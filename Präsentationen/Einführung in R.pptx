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6" r:id="rId2"/>
    <p:sldId id="267" r:id="rId3"/>
    <p:sldId id="257" r:id="rId4"/>
    <p:sldId id="271" r:id="rId5"/>
    <p:sldId id="268" r:id="rId6"/>
    <p:sldId id="273" r:id="rId7"/>
    <p:sldId id="264" r:id="rId8"/>
    <p:sldId id="298" r:id="rId9"/>
    <p:sldId id="258" r:id="rId10"/>
    <p:sldId id="260" r:id="rId11"/>
    <p:sldId id="299" r:id="rId12"/>
    <p:sldId id="274" r:id="rId13"/>
    <p:sldId id="276" r:id="rId14"/>
    <p:sldId id="275" r:id="rId15"/>
    <p:sldId id="261" r:id="rId16"/>
    <p:sldId id="277" r:id="rId17"/>
    <p:sldId id="278" r:id="rId18"/>
    <p:sldId id="269" r:id="rId19"/>
    <p:sldId id="279" r:id="rId20"/>
    <p:sldId id="283" r:id="rId21"/>
    <p:sldId id="280" r:id="rId22"/>
    <p:sldId id="262" r:id="rId23"/>
    <p:sldId id="282" r:id="rId24"/>
    <p:sldId id="284" r:id="rId25"/>
    <p:sldId id="281" r:id="rId26"/>
    <p:sldId id="263" r:id="rId27"/>
    <p:sldId id="285" r:id="rId28"/>
    <p:sldId id="287" r:id="rId29"/>
    <p:sldId id="300" r:id="rId30"/>
    <p:sldId id="288" r:id="rId31"/>
    <p:sldId id="301" r:id="rId32"/>
    <p:sldId id="289" r:id="rId33"/>
    <p:sldId id="302" r:id="rId34"/>
    <p:sldId id="291" r:id="rId35"/>
    <p:sldId id="303" r:id="rId36"/>
    <p:sldId id="290" r:id="rId37"/>
    <p:sldId id="304" r:id="rId38"/>
    <p:sldId id="292" r:id="rId39"/>
    <p:sldId id="293" r:id="rId40"/>
    <p:sldId id="305" r:id="rId41"/>
    <p:sldId id="306" r:id="rId42"/>
    <p:sldId id="308" r:id="rId43"/>
    <p:sldId id="307" r:id="rId44"/>
    <p:sldId id="309" r:id="rId45"/>
    <p:sldId id="310" r:id="rId4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06" autoAdjust="0"/>
    <p:restoredTop sz="94660"/>
  </p:normalViewPr>
  <p:slideViewPr>
    <p:cSldViewPr snapToGrid="0">
      <p:cViewPr varScale="1">
        <p:scale>
          <a:sx n="66" d="100"/>
          <a:sy n="66" d="100"/>
        </p:scale>
        <p:origin x="317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4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8800" spc="-120" baseline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2" y="4206876"/>
            <a:ext cx="9228201" cy="1645920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fld id="{3F46AE61-50B3-4440-BB01-1FF85E3E82A7}" type="datetimeFigureOut">
              <a:rPr lang="de-DE" smtClean="0"/>
              <a:t>04.07.2025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60F72BB8-D371-4C53-BF81-5F90ACECF9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613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6AE61-50B3-4440-BB01-1FF85E3E82A7}" type="datetimeFigureOut">
              <a:rPr lang="de-DE" smtClean="0"/>
              <a:t>04.07.2025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72BB8-D371-4C53-BF81-5F90ACECF9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61142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3355848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8800" b="0" baseline="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4204209"/>
            <a:ext cx="9226296" cy="1645920"/>
          </a:xfrm>
        </p:spPr>
        <p:txBody>
          <a:bodyPr anchor="t">
            <a:normAutofit/>
          </a:bodyPr>
          <a:lstStyle>
            <a:lvl1pPr marL="0" indent="0">
              <a:buNone/>
              <a:defRPr sz="320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6AE61-50B3-4440-BB01-1FF85E3E82A7}" type="datetimeFigureOut">
              <a:rPr lang="de-DE" smtClean="0"/>
              <a:t>04.07.2025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72BB8-D371-4C53-BF81-5F90ACECF9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06636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0" y="1998134"/>
            <a:ext cx="4663440" cy="376732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6AE61-50B3-4440-BB01-1FF85E3E82A7}" type="datetimeFigureOut">
              <a:rPr lang="de-DE" smtClean="0"/>
              <a:t>04.07.2025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72BB8-D371-4C53-BF81-5F90ACECF9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955344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22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22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6AE61-50B3-4440-BB01-1FF85E3E82A7}" type="datetimeFigureOut">
              <a:rPr lang="de-DE" smtClean="0"/>
              <a:t>04.07.2025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72BB8-D371-4C53-BF81-5F90ACECF9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927232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6AE61-50B3-4440-BB01-1FF85E3E82A7}" type="datetimeFigureOut">
              <a:rPr lang="de-DE" smtClean="0"/>
              <a:t>04.07.2025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72BB8-D371-4C53-BF81-5F90ACECF9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1762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6AE61-50B3-4440-BB01-1FF85E3E82A7}" type="datetimeFigureOut">
              <a:rPr lang="de-DE" smtClean="0"/>
              <a:t>04.07.2025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72BB8-D371-4C53-BF81-5F90ACECF9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242804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400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2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rgbClr val="26262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6AE61-50B3-4440-BB01-1FF85E3E82A7}" type="datetimeFigureOut">
              <a:rPr lang="de-DE" smtClean="0"/>
              <a:t>04.07.2025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fld id="{60F72BB8-D371-4C53-BF81-5F90ACECF9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9190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7"/>
            <a:ext cx="10780776" cy="613283"/>
          </a:xfrm>
        </p:spPr>
        <p:txBody>
          <a:bodyPr anchor="b">
            <a:normAutofit/>
          </a:bodyPr>
          <a:lstStyle>
            <a:lvl1pPr>
              <a:defRPr sz="32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800"/>
              </a:spcBef>
              <a:buNone/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400">
                <a:solidFill>
                  <a:srgbClr val="26262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fld id="{3F46AE61-50B3-4440-BB01-1FF85E3E82A7}" type="datetimeFigureOut">
              <a:rPr lang="de-DE" smtClean="0"/>
              <a:t>04.07.2025</a:t>
            </a:fld>
            <a:endParaRPr lang="de-DE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de-DE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60F72BB8-D371-4C53-BF81-5F90ACECF9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89249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6AE61-50B3-4440-BB01-1FF85E3E82A7}" type="datetimeFigureOut">
              <a:rPr lang="de-DE" smtClean="0"/>
              <a:t>04.07.2025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72BB8-D371-4C53-BF81-5F90ACECF9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8870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0" y="695325"/>
            <a:ext cx="2628900" cy="480060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5" y="714375"/>
            <a:ext cx="7734300" cy="540067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6AE61-50B3-4440-BB01-1FF85E3E82A7}" type="datetimeFigureOut">
              <a:rPr lang="de-DE" smtClean="0"/>
              <a:t>04.07.2025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72BB8-D371-4C53-BF81-5F90ACECF9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390197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4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fld id="{3F46AE61-50B3-4440-BB01-1FF85E3E82A7}" type="datetimeFigureOut">
              <a:rPr lang="de-DE" smtClean="0"/>
              <a:t>04.07.2025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 cap="all" baseline="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6" y="5876412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300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+mj-lt"/>
              </a:defRPr>
            </a:lvl1pPr>
          </a:lstStyle>
          <a:p>
            <a:fld id="{60F72BB8-D371-4C53-BF81-5F90ACECF9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855577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5400" kern="1200" spc="-12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85000"/>
        </a:lnSpc>
        <a:spcBef>
          <a:spcPts val="1300"/>
        </a:spcBef>
        <a:buFont typeface="Arial" pitchFamily="34" charset="0"/>
        <a:buChar char=" 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347472" indent="-3429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48640" indent="-54864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20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822960" indent="-82296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09728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4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6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8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8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B3E67B-695B-4898-B632-95F9090D53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sz="8000" b="1" dirty="0"/>
              <a:t>Einführung in die Programmiersprache R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D143ED2D-A854-4D96-9651-F3D4EB0A7EC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162450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BB87A6-D61E-40FE-BB2B-BC109C6B3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8964" y="102037"/>
            <a:ext cx="8309343" cy="1154003"/>
          </a:xfrm>
        </p:spPr>
        <p:txBody>
          <a:bodyPr/>
          <a:lstStyle/>
          <a:p>
            <a:r>
              <a:rPr lang="de-DE" b="1" dirty="0"/>
              <a:t>Ziele des Kurses</a:t>
            </a:r>
          </a:p>
        </p:txBody>
      </p:sp>
      <p:sp>
        <p:nvSpPr>
          <p:cNvPr id="8" name="Gleichschenkliges Dreieck 7">
            <a:extLst>
              <a:ext uri="{FF2B5EF4-FFF2-40B4-BE49-F238E27FC236}">
                <a16:creationId xmlns:a16="http://schemas.microsoft.com/office/drawing/2014/main" id="{D5A8D03E-9023-4284-AF7C-4E7CA03DD535}"/>
              </a:ext>
            </a:extLst>
          </p:cNvPr>
          <p:cNvSpPr/>
          <p:nvPr/>
        </p:nvSpPr>
        <p:spPr>
          <a:xfrm>
            <a:off x="4035055" y="1160294"/>
            <a:ext cx="7759110" cy="5194892"/>
          </a:xfrm>
          <a:prstGeom prst="triangle">
            <a:avLst/>
          </a:prstGeom>
          <a:solidFill>
            <a:srgbClr val="4F81B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3345A024-8FF3-40B7-BEC1-03D335774080}"/>
              </a:ext>
            </a:extLst>
          </p:cNvPr>
          <p:cNvSpPr/>
          <p:nvPr/>
        </p:nvSpPr>
        <p:spPr>
          <a:xfrm>
            <a:off x="2078222" y="1398412"/>
            <a:ext cx="5836388" cy="96139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de-DE" sz="2400" dirty="0">
                <a:solidFill>
                  <a:schemeClr val="tx1"/>
                </a:solidFill>
              </a:rPr>
              <a:t>Daten einlesen, aufbereiten, analysieren und visualisieren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3FD3B1CA-2E98-4C9D-9FF8-A2CE2E95C9EF}"/>
              </a:ext>
            </a:extLst>
          </p:cNvPr>
          <p:cNvSpPr/>
          <p:nvPr/>
        </p:nvSpPr>
        <p:spPr>
          <a:xfrm>
            <a:off x="2037907" y="3009408"/>
            <a:ext cx="6000307" cy="10154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defTabSz="914400"/>
            <a:r>
              <a:rPr lang="de-DE" sz="2400" kern="0" dirty="0">
                <a:solidFill>
                  <a:sysClr val="windowText" lastClr="000000"/>
                </a:solidFill>
              </a:rPr>
              <a:t>Vermittlung der Grundlagen für eigenständige Weiterbildung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E2CD539F-5E76-49E0-9D3F-6C0AF89D4520}"/>
              </a:ext>
            </a:extLst>
          </p:cNvPr>
          <p:cNvSpPr/>
          <p:nvPr/>
        </p:nvSpPr>
        <p:spPr>
          <a:xfrm>
            <a:off x="2037907" y="4682297"/>
            <a:ext cx="5915246" cy="120814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/>
            <a:r>
              <a:rPr lang="de-DE" sz="2400" kern="0" dirty="0">
                <a:solidFill>
                  <a:sysClr val="windowText" lastClr="000000"/>
                </a:solidFill>
              </a:rPr>
              <a:t>Aufbau von Frustrationstoleranz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834A5640-56B7-435D-A8DC-15B2FF236DA3}"/>
              </a:ext>
            </a:extLst>
          </p:cNvPr>
          <p:cNvSpPr txBox="1"/>
          <p:nvPr/>
        </p:nvSpPr>
        <p:spPr>
          <a:xfrm>
            <a:off x="2624469" y="5459588"/>
            <a:ext cx="47421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b="1" dirty="0">
                <a:solidFill>
                  <a:srgbClr val="C00000"/>
                </a:solidFill>
              </a:rPr>
              <a:t>Wichtigste Kompetenz beim Programmieren!</a:t>
            </a:r>
          </a:p>
        </p:txBody>
      </p:sp>
    </p:spTree>
    <p:extLst>
      <p:ext uri="{BB962C8B-B14F-4D97-AF65-F5344CB8AC3E}">
        <p14:creationId xmlns:p14="http://schemas.microsoft.com/office/powerpoint/2010/main" val="2180960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5" grpId="0" animBg="1"/>
      <p:bldP spid="6" grpId="0" animBg="1"/>
      <p:bldP spid="7" grpId="0" animBg="1"/>
      <p:bldP spid="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3C6933-6D3D-4D1D-A3F6-D1B681117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10" y="228403"/>
            <a:ext cx="10772775" cy="1052820"/>
          </a:xfrm>
        </p:spPr>
        <p:txBody>
          <a:bodyPr/>
          <a:lstStyle/>
          <a:p>
            <a:r>
              <a:rPr lang="de-DE" b="1" dirty="0">
                <a:solidFill>
                  <a:srgbClr val="4F81BD"/>
                </a:solidFill>
              </a:rPr>
              <a:t>Warum R? – 4 Gründe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4EB8A9B-6500-4485-AEDC-806CD651CD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656" y="1188098"/>
            <a:ext cx="10753725" cy="5441499"/>
          </a:xfrm>
        </p:spPr>
        <p:txBody>
          <a:bodyPr>
            <a:no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de-DE" sz="2800" b="1" dirty="0">
                <a:solidFill>
                  <a:srgbClr val="4F81BD"/>
                </a:solidFill>
              </a:rPr>
              <a:t>Vielseitige und mächtige Software</a:t>
            </a:r>
          </a:p>
          <a:p>
            <a:pPr marL="4572" lvl="1" indent="0">
              <a:buNone/>
            </a:pPr>
            <a:r>
              <a:rPr lang="de-DE" sz="2200" dirty="0"/>
              <a:t>	- ständige Weiterentwicklung durch Community (R Pakete)</a:t>
            </a:r>
          </a:p>
          <a:p>
            <a:pPr marL="4572" lvl="1" indent="0">
              <a:buNone/>
            </a:pPr>
            <a:r>
              <a:rPr lang="de-DE" sz="2200" dirty="0"/>
              <a:t>	- ermöglicht Auswertung von komplexen Fragestellungen </a:t>
            </a:r>
          </a:p>
          <a:p>
            <a:pPr marL="4572" lvl="1" indent="0">
              <a:buNone/>
            </a:pPr>
            <a:r>
              <a:rPr lang="de-DE" sz="2200" dirty="0"/>
              <a:t>		</a:t>
            </a:r>
            <a:r>
              <a:rPr lang="de-DE" sz="2200" dirty="0" err="1"/>
              <a:t>Bsp</a:t>
            </a:r>
            <a:r>
              <a:rPr lang="de-DE" sz="2200" dirty="0"/>
              <a:t>: Klassifizierung von Satellitenbildern mit </a:t>
            </a:r>
            <a:r>
              <a:rPr lang="de-DE" sz="2200" dirty="0" err="1"/>
              <a:t>Machine</a:t>
            </a:r>
            <a:r>
              <a:rPr lang="de-DE" sz="2200" dirty="0"/>
              <a:t> Learning Algorithmen  </a:t>
            </a:r>
          </a:p>
          <a:p>
            <a:pPr marL="457200" indent="-457200">
              <a:buFont typeface="+mj-lt"/>
              <a:buAutoNum type="arabicPeriod"/>
            </a:pPr>
            <a:r>
              <a:rPr lang="de-DE" sz="2800" b="1" dirty="0">
                <a:solidFill>
                  <a:srgbClr val="4F81BD"/>
                </a:solidFill>
              </a:rPr>
              <a:t>Kostenlos!</a:t>
            </a:r>
          </a:p>
          <a:p>
            <a:pPr marL="457200" indent="-457200">
              <a:buFont typeface="+mj-lt"/>
              <a:buAutoNum type="arabicPeriod"/>
            </a:pPr>
            <a:r>
              <a:rPr lang="de-DE" sz="2800" b="1" dirty="0">
                <a:solidFill>
                  <a:srgbClr val="4F81BD"/>
                </a:solidFill>
              </a:rPr>
              <a:t>Standard in Umwelt- und Forstwissenschaften</a:t>
            </a:r>
          </a:p>
          <a:p>
            <a:pPr marL="4572" lvl="1" indent="0">
              <a:buNone/>
            </a:pPr>
            <a:r>
              <a:rPr lang="de-DE" dirty="0"/>
              <a:t>	- </a:t>
            </a:r>
            <a:r>
              <a:rPr lang="de-DE" sz="2200" dirty="0"/>
              <a:t>vereinfacht Austausch von Forschungsergebnissen und Modellen zwischen 			Einrichtungen</a:t>
            </a:r>
          </a:p>
          <a:p>
            <a:pPr marL="205740" indent="-457200">
              <a:buFont typeface="+mj-lt"/>
              <a:buAutoNum type="arabicPeriod"/>
            </a:pPr>
            <a:r>
              <a:rPr lang="de-DE" sz="2800" b="1" dirty="0">
                <a:solidFill>
                  <a:srgbClr val="4F81BD"/>
                </a:solidFill>
              </a:rPr>
              <a:t>R ist eine Programmiersprache</a:t>
            </a:r>
          </a:p>
          <a:p>
            <a:pPr marL="0" indent="0">
              <a:buNone/>
            </a:pPr>
            <a:r>
              <a:rPr lang="de-DE" dirty="0"/>
              <a:t>	</a:t>
            </a:r>
            <a:r>
              <a:rPr lang="de-DE" sz="2200" dirty="0"/>
              <a:t>- Programmier-Skills lassen sich auf andere Programmiersprachen wie Python, C++, 		Java etc. übertragen</a:t>
            </a:r>
          </a:p>
          <a:p>
            <a:pPr marL="0" indent="0">
              <a:buNone/>
            </a:pPr>
            <a:r>
              <a:rPr lang="de-DE" sz="2200" dirty="0"/>
              <a:t>	- Datenauswertung wird automatisch dokumentiert -&gt; Fehler lassen sich 				nachvollziehen </a:t>
            </a:r>
          </a:p>
        </p:txBody>
      </p:sp>
    </p:spTree>
    <p:extLst>
      <p:ext uri="{BB962C8B-B14F-4D97-AF65-F5344CB8AC3E}">
        <p14:creationId xmlns:p14="http://schemas.microsoft.com/office/powerpoint/2010/main" val="3562039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626A2C-6314-4DF8-AEAF-1598B8888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112" y="223087"/>
            <a:ext cx="10772775" cy="981449"/>
          </a:xfrm>
        </p:spPr>
        <p:txBody>
          <a:bodyPr/>
          <a:lstStyle/>
          <a:p>
            <a:r>
              <a:rPr lang="de-DE" b="1" dirty="0">
                <a:solidFill>
                  <a:srgbClr val="4F81BD"/>
                </a:solidFill>
              </a:rPr>
              <a:t>Inhalte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D13942C-EB21-4684-817C-05E846B50E1B}"/>
              </a:ext>
            </a:extLst>
          </p:cNvPr>
          <p:cNvSpPr txBox="1"/>
          <p:nvPr/>
        </p:nvSpPr>
        <p:spPr>
          <a:xfrm>
            <a:off x="997078" y="1394606"/>
            <a:ext cx="9128051" cy="1384995"/>
          </a:xfrm>
          <a:prstGeom prst="rect">
            <a:avLst/>
          </a:prstGeom>
          <a:solidFill>
            <a:srgbClr val="4F81BD"/>
          </a:solidFill>
        </p:spPr>
        <p:txBody>
          <a:bodyPr wrap="square" rtlCol="0">
            <a:spAutoFit/>
          </a:bodyPr>
          <a:lstStyle/>
          <a:p>
            <a:pPr marL="4572" lvl="1" indent="0">
              <a:buNone/>
            </a:pPr>
            <a:r>
              <a:rPr lang="de-DE" sz="2800" b="1" dirty="0">
                <a:solidFill>
                  <a:schemeClr val="bg1"/>
                </a:solidFill>
              </a:rPr>
              <a:t>Grundlagen:</a:t>
            </a:r>
          </a:p>
          <a:p>
            <a:pPr marL="4572" lvl="1" indent="0">
              <a:buNone/>
            </a:pPr>
            <a:r>
              <a:rPr lang="de-DE" sz="2800" dirty="0"/>
              <a:t>Datenstrukturen, Operatoren und Funktionen</a:t>
            </a:r>
          </a:p>
          <a:p>
            <a:pPr marL="4572" lvl="1" indent="0">
              <a:buNone/>
            </a:pPr>
            <a:endParaRPr lang="de-DE" sz="2800" i="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E534967-124A-4813-A4AC-86171E65A7CE}"/>
              </a:ext>
            </a:extLst>
          </p:cNvPr>
          <p:cNvSpPr txBox="1"/>
          <p:nvPr/>
        </p:nvSpPr>
        <p:spPr>
          <a:xfrm>
            <a:off x="1006381" y="4756465"/>
            <a:ext cx="9146658" cy="1384995"/>
          </a:xfrm>
          <a:prstGeom prst="rect">
            <a:avLst/>
          </a:prstGeom>
          <a:solidFill>
            <a:srgbClr val="4F81BD"/>
          </a:solidFill>
        </p:spPr>
        <p:txBody>
          <a:bodyPr wrap="square" rtlCol="0">
            <a:spAutoFit/>
          </a:bodyPr>
          <a:lstStyle/>
          <a:p>
            <a:pPr marL="0" lvl="2" indent="0">
              <a:buNone/>
            </a:pPr>
            <a:r>
              <a:rPr lang="de-DE" sz="2800" b="1" i="0" dirty="0">
                <a:solidFill>
                  <a:schemeClr val="bg1"/>
                </a:solidFill>
              </a:rPr>
              <a:t>Automatisierung:</a:t>
            </a:r>
          </a:p>
          <a:p>
            <a:pPr marL="0" lvl="2" indent="0">
              <a:buNone/>
            </a:pPr>
            <a:r>
              <a:rPr lang="de-DE" sz="2800" dirty="0"/>
              <a:t>eigene Funktionen, Konditionen und Schleifen</a:t>
            </a:r>
            <a:endParaRPr lang="de-DE" sz="2800" i="0" dirty="0"/>
          </a:p>
          <a:p>
            <a:pPr marL="0" lvl="2" indent="0">
              <a:buNone/>
            </a:pPr>
            <a:endParaRPr lang="de-DE" sz="2800" i="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37795E6-2ADB-4DED-8BCF-80F27B1C807D}"/>
              </a:ext>
            </a:extLst>
          </p:cNvPr>
          <p:cNvSpPr txBox="1"/>
          <p:nvPr/>
        </p:nvSpPr>
        <p:spPr>
          <a:xfrm>
            <a:off x="997077" y="3152480"/>
            <a:ext cx="9128051" cy="1231106"/>
          </a:xfrm>
          <a:prstGeom prst="rect">
            <a:avLst/>
          </a:prstGeom>
          <a:solidFill>
            <a:srgbClr val="4F81BD"/>
          </a:solidFill>
        </p:spPr>
        <p:txBody>
          <a:bodyPr wrap="square" rtlCol="0">
            <a:spAutoFit/>
          </a:bodyPr>
          <a:lstStyle/>
          <a:p>
            <a:pPr marL="4572" lvl="1" indent="0">
              <a:buNone/>
            </a:pPr>
            <a:r>
              <a:rPr lang="de-DE" sz="2800" b="1" dirty="0">
                <a:solidFill>
                  <a:schemeClr val="bg1"/>
                </a:solidFill>
              </a:rPr>
              <a:t>Grafiken:</a:t>
            </a:r>
          </a:p>
          <a:p>
            <a:pPr marL="4572" lvl="1" indent="0">
              <a:buNone/>
            </a:pPr>
            <a:r>
              <a:rPr lang="de-DE" sz="2800" dirty="0"/>
              <a:t>Diagramme in R</a:t>
            </a:r>
          </a:p>
          <a:p>
            <a:pPr marL="4572" lvl="1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67384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F3CB14-631E-4C5C-9540-2B486A059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656" y="138026"/>
            <a:ext cx="10772775" cy="1658198"/>
          </a:xfrm>
        </p:spPr>
        <p:txBody>
          <a:bodyPr/>
          <a:lstStyle/>
          <a:p>
            <a:r>
              <a:rPr lang="de-DE" b="1" dirty="0">
                <a:solidFill>
                  <a:srgbClr val="4F81BD"/>
                </a:solidFill>
              </a:rPr>
              <a:t>Wie? Warum? Was?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F3C6564-70C3-4D65-94C3-483418EA0C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656" y="1521372"/>
            <a:ext cx="10753725" cy="4544502"/>
          </a:xfrm>
        </p:spPr>
        <p:txBody>
          <a:bodyPr>
            <a:normAutofit/>
          </a:bodyPr>
          <a:lstStyle/>
          <a:p>
            <a:r>
              <a:rPr lang="de-DE" sz="3200" dirty="0"/>
              <a:t>In Programmiervorlesungen meist Fokus auf das </a:t>
            </a:r>
            <a:r>
              <a:rPr lang="de-DE" sz="3200" b="1" dirty="0"/>
              <a:t>Wie</a:t>
            </a:r>
          </a:p>
          <a:p>
            <a:endParaRPr lang="de-DE" sz="3200" b="1" dirty="0"/>
          </a:p>
          <a:p>
            <a:r>
              <a:rPr lang="de-DE" sz="3200" b="1" dirty="0"/>
              <a:t>Warum</a:t>
            </a:r>
            <a:r>
              <a:rPr lang="de-DE" sz="3200" dirty="0"/>
              <a:t> bleibt oft auf der Strecke</a:t>
            </a:r>
          </a:p>
          <a:p>
            <a:r>
              <a:rPr lang="de-DE" sz="3200" dirty="0"/>
              <a:t>… und damit auch die Motivation</a:t>
            </a:r>
          </a:p>
          <a:p>
            <a:pPr lvl="1"/>
            <a:r>
              <a:rPr lang="de-DE" b="1" dirty="0">
                <a:solidFill>
                  <a:srgbClr val="FF0000"/>
                </a:solidFill>
              </a:rPr>
              <a:t>-&gt; wenn nicht klar ist, warum wir etwas machen, bitte sofort fragen</a:t>
            </a:r>
          </a:p>
          <a:p>
            <a:pPr lvl="1"/>
            <a:endParaRPr lang="de-DE" b="1" dirty="0">
              <a:solidFill>
                <a:srgbClr val="FF0000"/>
              </a:solidFill>
              <a:sym typeface="Wingdings" panose="05000000000000000000" pitchFamily="2" charset="2"/>
            </a:endParaRPr>
          </a:p>
          <a:p>
            <a:r>
              <a:rPr lang="de-DE" sz="3200" b="1" dirty="0">
                <a:sym typeface="Wingdings" panose="05000000000000000000" pitchFamily="2" charset="2"/>
              </a:rPr>
              <a:t>Was</a:t>
            </a:r>
            <a:r>
              <a:rPr lang="de-DE" sz="3200" dirty="0">
                <a:sym typeface="Wingdings" panose="05000000000000000000" pitchFamily="2" charset="2"/>
              </a:rPr>
              <a:t> zur Hölle machen wir gerade?!</a:t>
            </a:r>
          </a:p>
          <a:p>
            <a:pPr lvl="1"/>
            <a:r>
              <a:rPr lang="de-DE" dirty="0">
                <a:sym typeface="Wingdings" panose="05000000000000000000" pitchFamily="2" charset="2"/>
              </a:rPr>
              <a:t>Nicht abhängen lassen. Geben Sie mir die Chance Sie wieder abzuholen </a:t>
            </a:r>
          </a:p>
          <a:p>
            <a:pPr lvl="1"/>
            <a:endParaRPr lang="de-DE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031557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8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82C04D-C07E-4106-B772-CE20CFE0D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902" y="2328333"/>
            <a:ext cx="11153553" cy="1658198"/>
          </a:xfrm>
        </p:spPr>
        <p:txBody>
          <a:bodyPr>
            <a:normAutofit/>
          </a:bodyPr>
          <a:lstStyle/>
          <a:p>
            <a:r>
              <a:rPr lang="de-DE" b="1" dirty="0">
                <a:solidFill>
                  <a:schemeClr val="bg1"/>
                </a:solidFill>
              </a:rPr>
              <a:t>Grundlagen:</a:t>
            </a:r>
            <a:br>
              <a:rPr lang="de-DE" b="1" dirty="0">
                <a:solidFill>
                  <a:schemeClr val="bg1"/>
                </a:solidFill>
              </a:rPr>
            </a:br>
            <a:r>
              <a:rPr lang="de-DE" sz="4400" dirty="0">
                <a:solidFill>
                  <a:schemeClr val="bg1"/>
                </a:solidFill>
              </a:rPr>
              <a:t>Operatoren, Datenstrukturen, Funktionen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64212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344944-9C58-48B1-86DB-DABE5BE9D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025" y="361310"/>
            <a:ext cx="10772775" cy="909281"/>
          </a:xfrm>
        </p:spPr>
        <p:txBody>
          <a:bodyPr>
            <a:normAutofit/>
          </a:bodyPr>
          <a:lstStyle/>
          <a:p>
            <a:r>
              <a:rPr lang="de-DE" b="1" dirty="0">
                <a:solidFill>
                  <a:srgbClr val="4F81BD"/>
                </a:solidFill>
              </a:rPr>
              <a:t>Datenstrukturen in R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66C09AA-82E2-4552-A370-6942889DF6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025" y="1540559"/>
            <a:ext cx="9145143" cy="4066756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D2BD8B2-9E2D-4488-A8A5-B9BFAC0A7F8D}"/>
              </a:ext>
            </a:extLst>
          </p:cNvPr>
          <p:cNvSpPr/>
          <p:nvPr/>
        </p:nvSpPr>
        <p:spPr>
          <a:xfrm>
            <a:off x="696432" y="2488019"/>
            <a:ext cx="595423" cy="21265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BF6FC60-1F8A-4E76-9AD3-07BFBF2FB43A}"/>
              </a:ext>
            </a:extLst>
          </p:cNvPr>
          <p:cNvSpPr/>
          <p:nvPr/>
        </p:nvSpPr>
        <p:spPr>
          <a:xfrm>
            <a:off x="2310809" y="3273056"/>
            <a:ext cx="595423" cy="21265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D71A2B7-08AE-4301-8860-BF9F5BC61FD3}"/>
              </a:ext>
            </a:extLst>
          </p:cNvPr>
          <p:cNvSpPr/>
          <p:nvPr/>
        </p:nvSpPr>
        <p:spPr>
          <a:xfrm>
            <a:off x="9790814" y="1880191"/>
            <a:ext cx="595423" cy="21265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8D2088F5-E923-4623-9ECE-9992D3C610B0}"/>
              </a:ext>
            </a:extLst>
          </p:cNvPr>
          <p:cNvSpPr txBox="1"/>
          <p:nvPr/>
        </p:nvSpPr>
        <p:spPr>
          <a:xfrm>
            <a:off x="10579396" y="1801850"/>
            <a:ext cx="7921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FF0000"/>
                </a:solidFill>
              </a:rPr>
              <a:t>Wert</a:t>
            </a:r>
            <a:endParaRPr lang="de-DE" b="1" dirty="0">
              <a:solidFill>
                <a:srgbClr val="FF0000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348797C-BC9C-4427-92F0-E1AF33E0F2B6}"/>
              </a:ext>
            </a:extLst>
          </p:cNvPr>
          <p:cNvSpPr/>
          <p:nvPr/>
        </p:nvSpPr>
        <p:spPr>
          <a:xfrm>
            <a:off x="6360042" y="1895579"/>
            <a:ext cx="595423" cy="3691830"/>
          </a:xfrm>
          <a:prstGeom prst="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F04BDEA-CA82-415A-B42D-A3BF482014A8}"/>
              </a:ext>
            </a:extLst>
          </p:cNvPr>
          <p:cNvSpPr/>
          <p:nvPr/>
        </p:nvSpPr>
        <p:spPr>
          <a:xfrm>
            <a:off x="668078" y="3842784"/>
            <a:ext cx="8677090" cy="212651"/>
          </a:xfrm>
          <a:prstGeom prst="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A4E7BFDF-F12D-4DE3-A1C2-A0127032DD8C}"/>
              </a:ext>
            </a:extLst>
          </p:cNvPr>
          <p:cNvSpPr/>
          <p:nvPr/>
        </p:nvSpPr>
        <p:spPr>
          <a:xfrm>
            <a:off x="9815623" y="2489791"/>
            <a:ext cx="595423" cy="212651"/>
          </a:xfrm>
          <a:prstGeom prst="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3E8A1429-B198-40FF-B3CD-9517C32D21AE}"/>
              </a:ext>
            </a:extLst>
          </p:cNvPr>
          <p:cNvSpPr txBox="1"/>
          <p:nvPr/>
        </p:nvSpPr>
        <p:spPr>
          <a:xfrm>
            <a:off x="10637897" y="2394289"/>
            <a:ext cx="9746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0070C0"/>
                </a:solidFill>
              </a:rPr>
              <a:t>Vektor</a:t>
            </a:r>
            <a:endParaRPr lang="de-DE" b="1" dirty="0">
              <a:solidFill>
                <a:srgbClr val="0070C0"/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23C9472-24E9-44F4-BB57-A512D68AC2B6}"/>
              </a:ext>
            </a:extLst>
          </p:cNvPr>
          <p:cNvSpPr/>
          <p:nvPr/>
        </p:nvSpPr>
        <p:spPr>
          <a:xfrm>
            <a:off x="3101163" y="1919127"/>
            <a:ext cx="2247014" cy="3691830"/>
          </a:xfrm>
          <a:prstGeom prst="rect">
            <a:avLst/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292D6678-9790-40B8-8D69-A6C10AD37FBE}"/>
              </a:ext>
            </a:extLst>
          </p:cNvPr>
          <p:cNvSpPr/>
          <p:nvPr/>
        </p:nvSpPr>
        <p:spPr>
          <a:xfrm>
            <a:off x="531155" y="4412512"/>
            <a:ext cx="2422923" cy="1023008"/>
          </a:xfrm>
          <a:prstGeom prst="rect">
            <a:avLst/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616735A-2B34-483B-9C46-3E95A0DE9088}"/>
              </a:ext>
            </a:extLst>
          </p:cNvPr>
          <p:cNvSpPr/>
          <p:nvPr/>
        </p:nvSpPr>
        <p:spPr>
          <a:xfrm>
            <a:off x="9815623" y="3060405"/>
            <a:ext cx="595423" cy="212651"/>
          </a:xfrm>
          <a:prstGeom prst="rect">
            <a:avLst/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9A4AEC68-F108-4C0B-8864-DC2CB484E02A}"/>
              </a:ext>
            </a:extLst>
          </p:cNvPr>
          <p:cNvSpPr txBox="1"/>
          <p:nvPr/>
        </p:nvSpPr>
        <p:spPr>
          <a:xfrm>
            <a:off x="10579396" y="2935897"/>
            <a:ext cx="976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FFC000"/>
                </a:solidFill>
              </a:rPr>
              <a:t>Matrix</a:t>
            </a:r>
            <a:endParaRPr lang="de-DE" b="1" dirty="0">
              <a:solidFill>
                <a:srgbClr val="FFC000"/>
              </a:solidFill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B32807F-1AC5-439E-9458-4AB983E5DBA2}"/>
              </a:ext>
            </a:extLst>
          </p:cNvPr>
          <p:cNvSpPr/>
          <p:nvPr/>
        </p:nvSpPr>
        <p:spPr>
          <a:xfrm>
            <a:off x="159488" y="1540559"/>
            <a:ext cx="9223745" cy="4110646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932DBDE9-61C3-4EF2-BCE2-5BF33C8E27A7}"/>
              </a:ext>
            </a:extLst>
          </p:cNvPr>
          <p:cNvSpPr/>
          <p:nvPr/>
        </p:nvSpPr>
        <p:spPr>
          <a:xfrm>
            <a:off x="9851286" y="3658716"/>
            <a:ext cx="595423" cy="212651"/>
          </a:xfrm>
          <a:prstGeom prst="rect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04F4B21E-7278-44B6-8CA5-BB87D3EC5653}"/>
              </a:ext>
            </a:extLst>
          </p:cNvPr>
          <p:cNvSpPr txBox="1"/>
          <p:nvPr/>
        </p:nvSpPr>
        <p:spPr>
          <a:xfrm>
            <a:off x="10517854" y="3516718"/>
            <a:ext cx="14841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7030A0"/>
                </a:solidFill>
              </a:rPr>
              <a:t>Dataframe</a:t>
            </a:r>
            <a:endParaRPr lang="de-DE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3651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/>
      <p:bldP spid="12" grpId="0" animBg="1"/>
      <p:bldP spid="13" grpId="0" animBg="1"/>
      <p:bldP spid="14" grpId="0" animBg="1"/>
      <p:bldP spid="15" grpId="0"/>
      <p:bldP spid="16" grpId="0" animBg="1"/>
      <p:bldP spid="17" grpId="0" animBg="1"/>
      <p:bldP spid="18" grpId="0" animBg="1"/>
      <p:bldP spid="19" grpId="0"/>
      <p:bldP spid="20" grpId="0" animBg="1"/>
      <p:bldP spid="21" grpId="0" animBg="1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8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82C04D-C07E-4106-B772-CE20CFE0D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902" y="2328333"/>
            <a:ext cx="11153553" cy="1658198"/>
          </a:xfrm>
        </p:spPr>
        <p:txBody>
          <a:bodyPr/>
          <a:lstStyle/>
          <a:p>
            <a:r>
              <a:rPr lang="de-DE" b="1" dirty="0">
                <a:solidFill>
                  <a:schemeClr val="bg1"/>
                </a:solidFill>
              </a:rPr>
              <a:t>Live Coding: Operatoren und Variablen</a:t>
            </a:r>
          </a:p>
        </p:txBody>
      </p:sp>
    </p:spTree>
    <p:extLst>
      <p:ext uri="{BB962C8B-B14F-4D97-AF65-F5344CB8AC3E}">
        <p14:creationId xmlns:p14="http://schemas.microsoft.com/office/powerpoint/2010/main" val="36844836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407509-513C-47CC-8009-8AD3E405F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274" y="334729"/>
            <a:ext cx="10772775" cy="1042188"/>
          </a:xfrm>
        </p:spPr>
        <p:txBody>
          <a:bodyPr/>
          <a:lstStyle/>
          <a:p>
            <a:r>
              <a:rPr lang="de-DE" b="1" dirty="0"/>
              <a:t>Operatoren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6163AC-D70A-4FCA-9081-8094260F07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274" y="1292773"/>
            <a:ext cx="10753725" cy="5230498"/>
          </a:xfrm>
        </p:spPr>
        <p:txBody>
          <a:bodyPr>
            <a:normAutofit fontScale="77500" lnSpcReduction="20000"/>
          </a:bodyPr>
          <a:lstStyle/>
          <a:p>
            <a:pPr lvl="1">
              <a:buFont typeface="Arial" panose="020B0604020202020204" pitchFamily="34" charset="0"/>
              <a:buChar char="•"/>
            </a:pPr>
            <a:r>
              <a:rPr lang="de-DE" sz="2900" b="1" dirty="0"/>
              <a:t>Mathematische Operatoren</a:t>
            </a:r>
          </a:p>
          <a:p>
            <a:pPr marL="4572" lvl="1" indent="0">
              <a:buNone/>
            </a:pPr>
            <a:r>
              <a:rPr lang="de-DE" sz="2900" dirty="0"/>
              <a:t>	+     -     *     /     ^     %%</a:t>
            </a:r>
          </a:p>
          <a:p>
            <a:pPr marL="4572" lvl="1" indent="0">
              <a:buNone/>
            </a:pPr>
            <a:r>
              <a:rPr lang="de-DE" sz="2900" dirty="0"/>
              <a:t>	führen mathematische Operationen aus</a:t>
            </a:r>
          </a:p>
          <a:p>
            <a:pPr marL="4572" lvl="1" indent="0">
              <a:buNone/>
            </a:pPr>
            <a:endParaRPr lang="de-DE" sz="2600" dirty="0"/>
          </a:p>
          <a:p>
            <a:pPr lvl="1">
              <a:buFont typeface="Arial" panose="020B0604020202020204" pitchFamily="34" charset="0"/>
              <a:buChar char="•"/>
            </a:pPr>
            <a:endParaRPr lang="de-DE" sz="260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de-DE" sz="2900" b="1" dirty="0"/>
              <a:t>Logische Operatoren</a:t>
            </a:r>
          </a:p>
          <a:p>
            <a:pPr marL="4572" lvl="1" indent="0">
              <a:buNone/>
            </a:pPr>
            <a:r>
              <a:rPr lang="de-DE" sz="2900" dirty="0"/>
              <a:t>	&gt;     &lt;     &gt;=     &lt;=     ==    !=</a:t>
            </a:r>
          </a:p>
          <a:p>
            <a:pPr marL="4572" lvl="1" indent="0">
              <a:buNone/>
            </a:pPr>
            <a:r>
              <a:rPr lang="de-DE" sz="2900" dirty="0"/>
              <a:t>	geben TRUE oder FALSE zurück</a:t>
            </a:r>
          </a:p>
          <a:p>
            <a:pPr marL="4572" lvl="1" indent="0">
              <a:buNone/>
            </a:pPr>
            <a:endParaRPr lang="de-DE" sz="290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de-DE" sz="2900" b="1" dirty="0"/>
              <a:t>Verknüpfung logischer Abfragen</a:t>
            </a:r>
          </a:p>
          <a:p>
            <a:pPr marL="4572" lvl="1" indent="0">
              <a:buNone/>
            </a:pPr>
            <a:r>
              <a:rPr lang="de-DE" sz="2600" dirty="0"/>
              <a:t>	</a:t>
            </a:r>
            <a:r>
              <a:rPr lang="de-DE" sz="2900" dirty="0"/>
              <a:t>Und: &amp;&amp;	gibt TRUE zurück wenn beide Bedingungen TRUE sind</a:t>
            </a:r>
          </a:p>
          <a:p>
            <a:pPr marL="4572" lvl="1" indent="0">
              <a:buNone/>
            </a:pPr>
            <a:r>
              <a:rPr lang="de-DE" sz="2900" dirty="0"/>
              <a:t>	Oder: ||	gibt TRUE zurück wenn eine der beiden Bedingungen TRUE ist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de-DE" sz="290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de-DE" sz="2800" b="1" dirty="0"/>
              <a:t>Zuweisungsoperatoren</a:t>
            </a:r>
          </a:p>
          <a:p>
            <a:pPr marL="4572" lvl="1" indent="0">
              <a:buNone/>
            </a:pPr>
            <a:r>
              <a:rPr lang="de-DE" sz="2800" dirty="0"/>
              <a:t>	&lt;-     =</a:t>
            </a:r>
          </a:p>
          <a:p>
            <a:pPr marL="4572" lvl="1" indent="0">
              <a:buNone/>
            </a:pPr>
            <a:r>
              <a:rPr lang="de-DE" sz="2800" dirty="0"/>
              <a:t>	Speichern Werte oder Wörter in einer Variablen</a:t>
            </a:r>
          </a:p>
          <a:p>
            <a:pPr marL="4572" lvl="1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03500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D96637-3F36-4C1D-801B-B0EDFA6C4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Werte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2354EA2-205F-4306-ACBB-57BA81043F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656" y="2011681"/>
            <a:ext cx="10753343" cy="3466836"/>
          </a:xfrm>
        </p:spPr>
        <p:txBody>
          <a:bodyPr>
            <a:normAutofit fontScale="92500"/>
          </a:bodyPr>
          <a:lstStyle/>
          <a:p>
            <a:pPr lvl="1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de-DE" sz="2800" dirty="0"/>
              <a:t>Bestehen aus einer Zahl oder Text</a:t>
            </a:r>
          </a:p>
          <a:p>
            <a:pPr lvl="1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de-DE" sz="2800" dirty="0"/>
              <a:t>Auf Zahlen lassen sich mathematische und logische Operatoren anwenden</a:t>
            </a:r>
          </a:p>
          <a:p>
            <a:pPr lvl="1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de-DE" sz="2800" dirty="0"/>
              <a:t>Auf Text nur logische Operatoren, und manchmal passiert Unerwartetes</a:t>
            </a:r>
          </a:p>
        </p:txBody>
      </p:sp>
    </p:spTree>
    <p:extLst>
      <p:ext uri="{BB962C8B-B14F-4D97-AF65-F5344CB8AC3E}">
        <p14:creationId xmlns:p14="http://schemas.microsoft.com/office/powerpoint/2010/main" val="3971068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D96637-3F36-4C1D-801B-B0EDFA6C4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Variablen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2354EA2-205F-4306-ACBB-57BA81043F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de-DE" sz="2800" dirty="0"/>
              <a:t>Speichern R Objekte wie Werte, Vektoren etc. aber auch Funktionen</a:t>
            </a:r>
            <a:endParaRPr lang="de-DE" sz="1800" dirty="0"/>
          </a:p>
          <a:p>
            <a:pPr lvl="1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de-DE" sz="2800" dirty="0"/>
              <a:t>Erst als Variable ist ein R Objekt vom Rechner auffindbar</a:t>
            </a:r>
          </a:p>
          <a:p>
            <a:pPr lvl="1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de-DE" sz="2800" dirty="0"/>
              <a:t>Lassen sich wieder überschreiben</a:t>
            </a:r>
          </a:p>
        </p:txBody>
      </p:sp>
    </p:spTree>
    <p:extLst>
      <p:ext uri="{BB962C8B-B14F-4D97-AF65-F5344CB8AC3E}">
        <p14:creationId xmlns:p14="http://schemas.microsoft.com/office/powerpoint/2010/main" val="2293348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CE7550-881F-4977-9D92-B620BA6CA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4137" y="1201397"/>
            <a:ext cx="10636677" cy="1013658"/>
          </a:xfrm>
        </p:spPr>
        <p:txBody>
          <a:bodyPr>
            <a:normAutofit/>
          </a:bodyPr>
          <a:lstStyle/>
          <a:p>
            <a:r>
              <a:rPr lang="de-DE" b="1" dirty="0"/>
              <a:t>Übung: Operatoren und Variablen</a:t>
            </a:r>
          </a:p>
        </p:txBody>
      </p:sp>
    </p:spTree>
    <p:extLst>
      <p:ext uri="{BB962C8B-B14F-4D97-AF65-F5344CB8AC3E}">
        <p14:creationId xmlns:p14="http://schemas.microsoft.com/office/powerpoint/2010/main" val="12081131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344944-9C58-48B1-86DB-DABE5BE9D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025" y="361310"/>
            <a:ext cx="10772775" cy="909281"/>
          </a:xfrm>
        </p:spPr>
        <p:txBody>
          <a:bodyPr>
            <a:normAutofit/>
          </a:bodyPr>
          <a:lstStyle/>
          <a:p>
            <a:r>
              <a:rPr lang="de-DE" b="1" dirty="0"/>
              <a:t>Datenstrukturen in R: Vektoren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66C09AA-82E2-4552-A370-6942889DF6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025" y="1540559"/>
            <a:ext cx="9145143" cy="4066756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D2BD8B2-9E2D-4488-A8A5-B9BFAC0A7F8D}"/>
              </a:ext>
            </a:extLst>
          </p:cNvPr>
          <p:cNvSpPr/>
          <p:nvPr/>
        </p:nvSpPr>
        <p:spPr>
          <a:xfrm>
            <a:off x="696432" y="2488019"/>
            <a:ext cx="595423" cy="21265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BF6FC60-1F8A-4E76-9AD3-07BFBF2FB43A}"/>
              </a:ext>
            </a:extLst>
          </p:cNvPr>
          <p:cNvSpPr/>
          <p:nvPr/>
        </p:nvSpPr>
        <p:spPr>
          <a:xfrm>
            <a:off x="2310809" y="3273056"/>
            <a:ext cx="595423" cy="21265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D71A2B7-08AE-4301-8860-BF9F5BC61FD3}"/>
              </a:ext>
            </a:extLst>
          </p:cNvPr>
          <p:cNvSpPr/>
          <p:nvPr/>
        </p:nvSpPr>
        <p:spPr>
          <a:xfrm>
            <a:off x="9790814" y="1880191"/>
            <a:ext cx="595423" cy="21265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8D2088F5-E923-4623-9ECE-9992D3C610B0}"/>
              </a:ext>
            </a:extLst>
          </p:cNvPr>
          <p:cNvSpPr txBox="1"/>
          <p:nvPr/>
        </p:nvSpPr>
        <p:spPr>
          <a:xfrm>
            <a:off x="10579396" y="1801850"/>
            <a:ext cx="7921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FF0000"/>
                </a:solidFill>
              </a:rPr>
              <a:t>Wert</a:t>
            </a:r>
            <a:endParaRPr lang="de-DE" b="1" dirty="0">
              <a:solidFill>
                <a:srgbClr val="FF0000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348797C-BC9C-4427-92F0-E1AF33E0F2B6}"/>
              </a:ext>
            </a:extLst>
          </p:cNvPr>
          <p:cNvSpPr/>
          <p:nvPr/>
        </p:nvSpPr>
        <p:spPr>
          <a:xfrm>
            <a:off x="6360042" y="1895579"/>
            <a:ext cx="595423" cy="3691830"/>
          </a:xfrm>
          <a:prstGeom prst="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F04BDEA-CA82-415A-B42D-A3BF482014A8}"/>
              </a:ext>
            </a:extLst>
          </p:cNvPr>
          <p:cNvSpPr/>
          <p:nvPr/>
        </p:nvSpPr>
        <p:spPr>
          <a:xfrm>
            <a:off x="668078" y="3842784"/>
            <a:ext cx="8677090" cy="212651"/>
          </a:xfrm>
          <a:prstGeom prst="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A4E7BFDF-F12D-4DE3-A1C2-A0127032DD8C}"/>
              </a:ext>
            </a:extLst>
          </p:cNvPr>
          <p:cNvSpPr/>
          <p:nvPr/>
        </p:nvSpPr>
        <p:spPr>
          <a:xfrm>
            <a:off x="9815623" y="2489791"/>
            <a:ext cx="595423" cy="212651"/>
          </a:xfrm>
          <a:prstGeom prst="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3E8A1429-B198-40FF-B3CD-9517C32D21AE}"/>
              </a:ext>
            </a:extLst>
          </p:cNvPr>
          <p:cNvSpPr txBox="1"/>
          <p:nvPr/>
        </p:nvSpPr>
        <p:spPr>
          <a:xfrm>
            <a:off x="10637897" y="2394289"/>
            <a:ext cx="9746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0070C0"/>
                </a:solidFill>
              </a:rPr>
              <a:t>Vektor</a:t>
            </a:r>
            <a:endParaRPr lang="de-DE" b="1" dirty="0">
              <a:solidFill>
                <a:srgbClr val="0070C0"/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23C9472-24E9-44F4-BB57-A512D68AC2B6}"/>
              </a:ext>
            </a:extLst>
          </p:cNvPr>
          <p:cNvSpPr/>
          <p:nvPr/>
        </p:nvSpPr>
        <p:spPr>
          <a:xfrm>
            <a:off x="3101163" y="1919127"/>
            <a:ext cx="2247014" cy="3691830"/>
          </a:xfrm>
          <a:prstGeom prst="rect">
            <a:avLst/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292D6678-9790-40B8-8D69-A6C10AD37FBE}"/>
              </a:ext>
            </a:extLst>
          </p:cNvPr>
          <p:cNvSpPr/>
          <p:nvPr/>
        </p:nvSpPr>
        <p:spPr>
          <a:xfrm>
            <a:off x="531155" y="4412512"/>
            <a:ext cx="2422923" cy="1023008"/>
          </a:xfrm>
          <a:prstGeom prst="rect">
            <a:avLst/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616735A-2B34-483B-9C46-3E95A0DE9088}"/>
              </a:ext>
            </a:extLst>
          </p:cNvPr>
          <p:cNvSpPr/>
          <p:nvPr/>
        </p:nvSpPr>
        <p:spPr>
          <a:xfrm>
            <a:off x="9815623" y="3060405"/>
            <a:ext cx="595423" cy="212651"/>
          </a:xfrm>
          <a:prstGeom prst="rect">
            <a:avLst/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9A4AEC68-F108-4C0B-8864-DC2CB484E02A}"/>
              </a:ext>
            </a:extLst>
          </p:cNvPr>
          <p:cNvSpPr txBox="1"/>
          <p:nvPr/>
        </p:nvSpPr>
        <p:spPr>
          <a:xfrm>
            <a:off x="10579396" y="2935897"/>
            <a:ext cx="976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FFC000"/>
                </a:solidFill>
              </a:rPr>
              <a:t>Matrix</a:t>
            </a:r>
            <a:endParaRPr lang="de-DE" b="1" dirty="0">
              <a:solidFill>
                <a:srgbClr val="FFC000"/>
              </a:solidFill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B32807F-1AC5-439E-9458-4AB983E5DBA2}"/>
              </a:ext>
            </a:extLst>
          </p:cNvPr>
          <p:cNvSpPr/>
          <p:nvPr/>
        </p:nvSpPr>
        <p:spPr>
          <a:xfrm>
            <a:off x="159488" y="1540559"/>
            <a:ext cx="9223745" cy="4110646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932DBDE9-61C3-4EF2-BCE2-5BF33C8E27A7}"/>
              </a:ext>
            </a:extLst>
          </p:cNvPr>
          <p:cNvSpPr/>
          <p:nvPr/>
        </p:nvSpPr>
        <p:spPr>
          <a:xfrm>
            <a:off x="9851286" y="3658716"/>
            <a:ext cx="595423" cy="212651"/>
          </a:xfrm>
          <a:prstGeom prst="rect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04F4B21E-7278-44B6-8CA5-BB87D3EC5653}"/>
              </a:ext>
            </a:extLst>
          </p:cNvPr>
          <p:cNvSpPr txBox="1"/>
          <p:nvPr/>
        </p:nvSpPr>
        <p:spPr>
          <a:xfrm>
            <a:off x="10517854" y="3516718"/>
            <a:ext cx="14841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7030A0"/>
                </a:solidFill>
              </a:rPr>
              <a:t>Dataframe</a:t>
            </a:r>
            <a:endParaRPr lang="de-DE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01364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8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82C04D-C07E-4106-B772-CE20CFE0D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902" y="2328333"/>
            <a:ext cx="11153553" cy="1658198"/>
          </a:xfrm>
        </p:spPr>
        <p:txBody>
          <a:bodyPr/>
          <a:lstStyle/>
          <a:p>
            <a:r>
              <a:rPr lang="de-DE" b="1" dirty="0">
                <a:solidFill>
                  <a:schemeClr val="bg1"/>
                </a:solidFill>
              </a:rPr>
              <a:t>Live Coding: Vektoren</a:t>
            </a:r>
          </a:p>
        </p:txBody>
      </p:sp>
    </p:spTree>
    <p:extLst>
      <p:ext uri="{BB962C8B-B14F-4D97-AF65-F5344CB8AC3E}">
        <p14:creationId xmlns:p14="http://schemas.microsoft.com/office/powerpoint/2010/main" val="33869077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1D52D2-BC55-4FD1-AC05-C91977EDF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326" y="398720"/>
            <a:ext cx="10772775" cy="1179536"/>
          </a:xfrm>
        </p:spPr>
        <p:txBody>
          <a:bodyPr/>
          <a:lstStyle/>
          <a:p>
            <a:r>
              <a:rPr lang="de-DE" b="1" dirty="0"/>
              <a:t>Vektoren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06FC6F6-D4B2-44EA-8BD7-20724DCA6B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64"/>
            <a:ext cx="10515600" cy="4683089"/>
          </a:xfrm>
        </p:spPr>
        <p:txBody>
          <a:bodyPr>
            <a:normAutofit lnSpcReduction="10000"/>
          </a:bodyPr>
          <a:lstStyle/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2800" dirty="0"/>
              <a:t>Verbinden mehrere Werte mit c( ) (</a:t>
            </a:r>
            <a:r>
              <a:rPr lang="de-DE" sz="2800" dirty="0" err="1"/>
              <a:t>combine</a:t>
            </a:r>
            <a:r>
              <a:rPr lang="de-DE" sz="2800" dirty="0"/>
              <a:t>)</a:t>
            </a:r>
          </a:p>
          <a:p>
            <a:pPr lvl="1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de-DE" sz="2800" dirty="0"/>
              <a:t>Operatoren werden auf alle Elemente eines Vektors ausgeführt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de-DE" sz="2800" dirty="0"/>
              <a:t>-&gt; ermöglicht effizientes Editieren und Durchführen von Abfragen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2800" dirty="0"/>
              <a:t>An bestehende Vektoren lassen sich weitere Elemente anhängen</a:t>
            </a:r>
          </a:p>
          <a:p>
            <a:pPr lvl="1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de-DE" sz="2800" dirty="0"/>
              <a:t>Indizierung mit [ ] ermöglicht Elemente aus Vektor abzufragen und zu verändern</a:t>
            </a:r>
          </a:p>
          <a:p>
            <a:pPr lvl="1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de-DE" sz="2800" dirty="0"/>
              <a:t>Indizierung mit negativem Index wählt alle Elemente außer dem Index aus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de-DE" sz="2800" dirty="0"/>
              <a:t>-&gt; ermöglicht das Löschen von Elementen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6197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8CD711-149C-4D10-B9CF-E4A5E9695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174" y="1204972"/>
            <a:ext cx="10772775" cy="529235"/>
          </a:xfrm>
        </p:spPr>
        <p:txBody>
          <a:bodyPr>
            <a:noAutofit/>
          </a:bodyPr>
          <a:lstStyle/>
          <a:p>
            <a:r>
              <a:rPr lang="de-DE" b="1" dirty="0"/>
              <a:t>Übung: Vektoren</a:t>
            </a:r>
          </a:p>
        </p:txBody>
      </p:sp>
    </p:spTree>
    <p:extLst>
      <p:ext uri="{BB962C8B-B14F-4D97-AF65-F5344CB8AC3E}">
        <p14:creationId xmlns:p14="http://schemas.microsoft.com/office/powerpoint/2010/main" val="3541159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8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82C04D-C07E-4106-B772-CE20CFE0D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902" y="2328333"/>
            <a:ext cx="11153553" cy="1658198"/>
          </a:xfrm>
        </p:spPr>
        <p:txBody>
          <a:bodyPr/>
          <a:lstStyle/>
          <a:p>
            <a:r>
              <a:rPr lang="de-DE" b="1" dirty="0">
                <a:solidFill>
                  <a:schemeClr val="bg1"/>
                </a:solidFill>
              </a:rPr>
              <a:t>Live Coding: Funktionen</a:t>
            </a:r>
          </a:p>
        </p:txBody>
      </p:sp>
    </p:spTree>
    <p:extLst>
      <p:ext uri="{BB962C8B-B14F-4D97-AF65-F5344CB8AC3E}">
        <p14:creationId xmlns:p14="http://schemas.microsoft.com/office/powerpoint/2010/main" val="14472805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150637-28B9-41D3-8696-7FEB4DFA0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Funktionen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38E3F8C-ED94-4360-876E-DB66036C02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656" y="2011680"/>
            <a:ext cx="10918185" cy="4109202"/>
          </a:xfrm>
        </p:spPr>
        <p:txBody>
          <a:bodyPr/>
          <a:lstStyle/>
          <a:p>
            <a:pPr lvl="1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de-DE" sz="2800" dirty="0"/>
              <a:t>Gekennzeichnet durch ( )</a:t>
            </a:r>
          </a:p>
          <a:p>
            <a:pPr lvl="1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de-DE" sz="2800" dirty="0"/>
              <a:t>Mit F1 Taste lässt sich die Hilfe Seite der Funktion öffnen</a:t>
            </a:r>
          </a:p>
          <a:p>
            <a:pPr lvl="1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de-DE" sz="2800" dirty="0"/>
              <a:t>Unbekannte Funktionen lassen sich per Hilfe-&gt;Suche finden</a:t>
            </a:r>
          </a:p>
          <a:p>
            <a:pPr lvl="1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de-DE" sz="2800" dirty="0"/>
              <a:t>Viele Funktionen sind in zusätzlichen Paketen enthalten</a:t>
            </a:r>
          </a:p>
          <a:p>
            <a:pPr marL="4572" lvl="1" indent="0">
              <a:lnSpc>
                <a:spcPct val="100000"/>
              </a:lnSpc>
              <a:buNone/>
            </a:pPr>
            <a:r>
              <a:rPr lang="de-DE" sz="2800" dirty="0"/>
              <a:t>	-&gt; Google!</a:t>
            </a:r>
          </a:p>
          <a:p>
            <a:pPr lvl="1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de-DE" sz="2800" dirty="0" err="1"/>
              <a:t>install.packages</a:t>
            </a:r>
            <a:r>
              <a:rPr lang="de-DE" sz="2800" dirty="0"/>
              <a:t>(„Paketname“) installiert das Paket</a:t>
            </a:r>
          </a:p>
          <a:p>
            <a:pPr lvl="1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de-DE" sz="2800" dirty="0" err="1"/>
              <a:t>library</a:t>
            </a:r>
            <a:r>
              <a:rPr lang="de-DE" sz="2800" dirty="0"/>
              <a:t>(Paketname) oder Paketname:: machen Funktionen zugreifbar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79274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31E842-E32F-4EDF-A139-97BB75539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7224" y="499533"/>
            <a:ext cx="10772775" cy="1316826"/>
          </a:xfrm>
        </p:spPr>
        <p:txBody>
          <a:bodyPr/>
          <a:lstStyle/>
          <a:p>
            <a:r>
              <a:rPr lang="de-DE" b="1" dirty="0"/>
              <a:t>Übung: Funktionen</a:t>
            </a:r>
          </a:p>
        </p:txBody>
      </p:sp>
    </p:spTree>
    <p:extLst>
      <p:ext uri="{BB962C8B-B14F-4D97-AF65-F5344CB8AC3E}">
        <p14:creationId xmlns:p14="http://schemas.microsoft.com/office/powerpoint/2010/main" val="40172210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344944-9C58-48B1-86DB-DABE5BE9D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025" y="361310"/>
            <a:ext cx="10772775" cy="909281"/>
          </a:xfrm>
        </p:spPr>
        <p:txBody>
          <a:bodyPr>
            <a:normAutofit/>
          </a:bodyPr>
          <a:lstStyle/>
          <a:p>
            <a:r>
              <a:rPr lang="de-DE" b="1" dirty="0"/>
              <a:t>Datenstrukturen in R: Matrizen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66C09AA-82E2-4552-A370-6942889DF6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025" y="1540559"/>
            <a:ext cx="9145143" cy="4066756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D2BD8B2-9E2D-4488-A8A5-B9BFAC0A7F8D}"/>
              </a:ext>
            </a:extLst>
          </p:cNvPr>
          <p:cNvSpPr/>
          <p:nvPr/>
        </p:nvSpPr>
        <p:spPr>
          <a:xfrm>
            <a:off x="696432" y="2488019"/>
            <a:ext cx="595423" cy="21265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BF6FC60-1F8A-4E76-9AD3-07BFBF2FB43A}"/>
              </a:ext>
            </a:extLst>
          </p:cNvPr>
          <p:cNvSpPr/>
          <p:nvPr/>
        </p:nvSpPr>
        <p:spPr>
          <a:xfrm>
            <a:off x="2310809" y="3273056"/>
            <a:ext cx="595423" cy="21265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D71A2B7-08AE-4301-8860-BF9F5BC61FD3}"/>
              </a:ext>
            </a:extLst>
          </p:cNvPr>
          <p:cNvSpPr/>
          <p:nvPr/>
        </p:nvSpPr>
        <p:spPr>
          <a:xfrm>
            <a:off x="9790814" y="1880191"/>
            <a:ext cx="595423" cy="21265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8D2088F5-E923-4623-9ECE-9992D3C610B0}"/>
              </a:ext>
            </a:extLst>
          </p:cNvPr>
          <p:cNvSpPr txBox="1"/>
          <p:nvPr/>
        </p:nvSpPr>
        <p:spPr>
          <a:xfrm>
            <a:off x="10579396" y="1801850"/>
            <a:ext cx="7921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FF0000"/>
                </a:solidFill>
              </a:rPr>
              <a:t>Wert</a:t>
            </a:r>
            <a:endParaRPr lang="de-DE" b="1" dirty="0">
              <a:solidFill>
                <a:srgbClr val="FF0000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348797C-BC9C-4427-92F0-E1AF33E0F2B6}"/>
              </a:ext>
            </a:extLst>
          </p:cNvPr>
          <p:cNvSpPr/>
          <p:nvPr/>
        </p:nvSpPr>
        <p:spPr>
          <a:xfrm>
            <a:off x="6360042" y="1895579"/>
            <a:ext cx="595423" cy="3691830"/>
          </a:xfrm>
          <a:prstGeom prst="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F04BDEA-CA82-415A-B42D-A3BF482014A8}"/>
              </a:ext>
            </a:extLst>
          </p:cNvPr>
          <p:cNvSpPr/>
          <p:nvPr/>
        </p:nvSpPr>
        <p:spPr>
          <a:xfrm>
            <a:off x="668078" y="3842784"/>
            <a:ext cx="8677090" cy="212651"/>
          </a:xfrm>
          <a:prstGeom prst="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A4E7BFDF-F12D-4DE3-A1C2-A0127032DD8C}"/>
              </a:ext>
            </a:extLst>
          </p:cNvPr>
          <p:cNvSpPr/>
          <p:nvPr/>
        </p:nvSpPr>
        <p:spPr>
          <a:xfrm>
            <a:off x="9815623" y="2489791"/>
            <a:ext cx="595423" cy="212651"/>
          </a:xfrm>
          <a:prstGeom prst="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3E8A1429-B198-40FF-B3CD-9517C32D21AE}"/>
              </a:ext>
            </a:extLst>
          </p:cNvPr>
          <p:cNvSpPr txBox="1"/>
          <p:nvPr/>
        </p:nvSpPr>
        <p:spPr>
          <a:xfrm>
            <a:off x="10637897" y="2394289"/>
            <a:ext cx="9746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0070C0"/>
                </a:solidFill>
              </a:rPr>
              <a:t>Vektor</a:t>
            </a:r>
            <a:endParaRPr lang="de-DE" b="1" dirty="0">
              <a:solidFill>
                <a:srgbClr val="0070C0"/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23C9472-24E9-44F4-BB57-A512D68AC2B6}"/>
              </a:ext>
            </a:extLst>
          </p:cNvPr>
          <p:cNvSpPr/>
          <p:nvPr/>
        </p:nvSpPr>
        <p:spPr>
          <a:xfrm>
            <a:off x="3101163" y="1919127"/>
            <a:ext cx="2247014" cy="3691830"/>
          </a:xfrm>
          <a:prstGeom prst="rect">
            <a:avLst/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292D6678-9790-40B8-8D69-A6C10AD37FBE}"/>
              </a:ext>
            </a:extLst>
          </p:cNvPr>
          <p:cNvSpPr/>
          <p:nvPr/>
        </p:nvSpPr>
        <p:spPr>
          <a:xfrm>
            <a:off x="531155" y="4412512"/>
            <a:ext cx="2422923" cy="1023008"/>
          </a:xfrm>
          <a:prstGeom prst="rect">
            <a:avLst/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616735A-2B34-483B-9C46-3E95A0DE9088}"/>
              </a:ext>
            </a:extLst>
          </p:cNvPr>
          <p:cNvSpPr/>
          <p:nvPr/>
        </p:nvSpPr>
        <p:spPr>
          <a:xfrm>
            <a:off x="9815623" y="3060405"/>
            <a:ext cx="595423" cy="212651"/>
          </a:xfrm>
          <a:prstGeom prst="rect">
            <a:avLst/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9A4AEC68-F108-4C0B-8864-DC2CB484E02A}"/>
              </a:ext>
            </a:extLst>
          </p:cNvPr>
          <p:cNvSpPr txBox="1"/>
          <p:nvPr/>
        </p:nvSpPr>
        <p:spPr>
          <a:xfrm>
            <a:off x="10579396" y="2935897"/>
            <a:ext cx="976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FFC000"/>
                </a:solidFill>
              </a:rPr>
              <a:t>Matrix</a:t>
            </a:r>
            <a:endParaRPr lang="de-DE" b="1" dirty="0">
              <a:solidFill>
                <a:srgbClr val="FFC000"/>
              </a:solidFill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B32807F-1AC5-439E-9458-4AB983E5DBA2}"/>
              </a:ext>
            </a:extLst>
          </p:cNvPr>
          <p:cNvSpPr/>
          <p:nvPr/>
        </p:nvSpPr>
        <p:spPr>
          <a:xfrm>
            <a:off x="159488" y="1540559"/>
            <a:ext cx="9223745" cy="4110646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932DBDE9-61C3-4EF2-BCE2-5BF33C8E27A7}"/>
              </a:ext>
            </a:extLst>
          </p:cNvPr>
          <p:cNvSpPr/>
          <p:nvPr/>
        </p:nvSpPr>
        <p:spPr>
          <a:xfrm>
            <a:off x="9851286" y="3658716"/>
            <a:ext cx="595423" cy="212651"/>
          </a:xfrm>
          <a:prstGeom prst="rect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04F4B21E-7278-44B6-8CA5-BB87D3EC5653}"/>
              </a:ext>
            </a:extLst>
          </p:cNvPr>
          <p:cNvSpPr txBox="1"/>
          <p:nvPr/>
        </p:nvSpPr>
        <p:spPr>
          <a:xfrm>
            <a:off x="10517854" y="3516718"/>
            <a:ext cx="14841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7030A0"/>
                </a:solidFill>
              </a:rPr>
              <a:t>Dataframe</a:t>
            </a:r>
            <a:endParaRPr lang="de-DE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33820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8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82C04D-C07E-4106-B772-CE20CFE0D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902" y="2328333"/>
            <a:ext cx="11153553" cy="1658198"/>
          </a:xfrm>
        </p:spPr>
        <p:txBody>
          <a:bodyPr/>
          <a:lstStyle/>
          <a:p>
            <a:r>
              <a:rPr lang="de-DE" b="1" dirty="0">
                <a:solidFill>
                  <a:schemeClr val="bg1"/>
                </a:solidFill>
              </a:rPr>
              <a:t>Live Coding: Matrizen</a:t>
            </a:r>
          </a:p>
        </p:txBody>
      </p:sp>
    </p:spTree>
    <p:extLst>
      <p:ext uri="{BB962C8B-B14F-4D97-AF65-F5344CB8AC3E}">
        <p14:creationId xmlns:p14="http://schemas.microsoft.com/office/powerpoint/2010/main" val="40150051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027F97-6EC1-4A37-B082-BDDE5E5BA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Matrizen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50AA3E-74DA-400E-A9AE-32DE27C786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>
              <a:buFont typeface="Arial" panose="020B0604020202020204" pitchFamily="34" charset="0"/>
              <a:buChar char="•"/>
            </a:pPr>
            <a:r>
              <a:rPr lang="de-DE" sz="2800" dirty="0"/>
              <a:t>Matrizen sind 2 dimensionale Vektoren</a:t>
            </a:r>
          </a:p>
          <a:p>
            <a:pPr marL="4572" lvl="1" indent="0">
              <a:buNone/>
            </a:pPr>
            <a:endParaRPr lang="de-DE" sz="280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de-DE" sz="2800" dirty="0"/>
              <a:t>Bei Indizierung mit [ , ] gibt es Zeile </a:t>
            </a:r>
            <a:r>
              <a:rPr lang="de-DE" sz="2800" b="1" dirty="0"/>
              <a:t>und</a:t>
            </a:r>
            <a:r>
              <a:rPr lang="de-DE" sz="2800" dirty="0"/>
              <a:t> Spalte angegeben werden</a:t>
            </a:r>
          </a:p>
          <a:p>
            <a:pPr marL="4572" lvl="1" indent="0">
              <a:buNone/>
            </a:pPr>
            <a:r>
              <a:rPr lang="de-DE" sz="2800" dirty="0"/>
              <a:t>	Erste Zahl: Zeile</a:t>
            </a:r>
          </a:p>
          <a:p>
            <a:pPr marL="0" indent="0">
              <a:buNone/>
            </a:pPr>
            <a:r>
              <a:rPr lang="de-DE" sz="2800" dirty="0"/>
              <a:t>	Zweite Zahl: Spalte</a:t>
            </a:r>
          </a:p>
          <a:p>
            <a:pPr marL="0" indent="0">
              <a:buNone/>
            </a:pPr>
            <a:r>
              <a:rPr lang="de-DE" sz="2800" dirty="0"/>
              <a:t>	Bsp.: Matrix[Zeile, Spalte]</a:t>
            </a:r>
          </a:p>
          <a:p>
            <a:pPr marL="0" indent="0">
              <a:buNone/>
            </a:pPr>
            <a:r>
              <a:rPr lang="de-DE" sz="2800" dirty="0"/>
              <a:t>-&gt; Keine Angabe von Zeilen- oder Spaltenindex bedeutet gesamte 	Zeile/Spalte</a:t>
            </a:r>
          </a:p>
        </p:txBody>
      </p:sp>
    </p:spTree>
    <p:extLst>
      <p:ext uri="{BB962C8B-B14F-4D97-AF65-F5344CB8AC3E}">
        <p14:creationId xmlns:p14="http://schemas.microsoft.com/office/powerpoint/2010/main" val="2897851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835445-EAC6-4597-B652-BE08B7478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458" y="917319"/>
            <a:ext cx="10772775" cy="1658198"/>
          </a:xfrm>
        </p:spPr>
        <p:txBody>
          <a:bodyPr/>
          <a:lstStyle/>
          <a:p>
            <a:r>
              <a:rPr lang="de-DE" b="1" dirty="0"/>
              <a:t>Übung: Matrizen</a:t>
            </a:r>
          </a:p>
        </p:txBody>
      </p:sp>
    </p:spTree>
    <p:extLst>
      <p:ext uri="{BB962C8B-B14F-4D97-AF65-F5344CB8AC3E}">
        <p14:creationId xmlns:p14="http://schemas.microsoft.com/office/powerpoint/2010/main" val="34805883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344944-9C58-48B1-86DB-DABE5BE9D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025" y="361310"/>
            <a:ext cx="10772775" cy="909281"/>
          </a:xfrm>
        </p:spPr>
        <p:txBody>
          <a:bodyPr>
            <a:normAutofit/>
          </a:bodyPr>
          <a:lstStyle/>
          <a:p>
            <a:r>
              <a:rPr lang="de-DE" b="1" dirty="0"/>
              <a:t>Datenstrukturen in R: Dataframes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66C09AA-82E2-4552-A370-6942889DF6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025" y="1540559"/>
            <a:ext cx="9145143" cy="4066756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D2BD8B2-9E2D-4488-A8A5-B9BFAC0A7F8D}"/>
              </a:ext>
            </a:extLst>
          </p:cNvPr>
          <p:cNvSpPr/>
          <p:nvPr/>
        </p:nvSpPr>
        <p:spPr>
          <a:xfrm>
            <a:off x="696432" y="2488019"/>
            <a:ext cx="595423" cy="21265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BF6FC60-1F8A-4E76-9AD3-07BFBF2FB43A}"/>
              </a:ext>
            </a:extLst>
          </p:cNvPr>
          <p:cNvSpPr/>
          <p:nvPr/>
        </p:nvSpPr>
        <p:spPr>
          <a:xfrm>
            <a:off x="2310809" y="3273056"/>
            <a:ext cx="595423" cy="21265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D71A2B7-08AE-4301-8860-BF9F5BC61FD3}"/>
              </a:ext>
            </a:extLst>
          </p:cNvPr>
          <p:cNvSpPr/>
          <p:nvPr/>
        </p:nvSpPr>
        <p:spPr>
          <a:xfrm>
            <a:off x="9790814" y="1880191"/>
            <a:ext cx="595423" cy="21265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8D2088F5-E923-4623-9ECE-9992D3C610B0}"/>
              </a:ext>
            </a:extLst>
          </p:cNvPr>
          <p:cNvSpPr txBox="1"/>
          <p:nvPr/>
        </p:nvSpPr>
        <p:spPr>
          <a:xfrm>
            <a:off x="10579396" y="1801850"/>
            <a:ext cx="7921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FF0000"/>
                </a:solidFill>
              </a:rPr>
              <a:t>Wert</a:t>
            </a:r>
            <a:endParaRPr lang="de-DE" b="1" dirty="0">
              <a:solidFill>
                <a:srgbClr val="FF0000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348797C-BC9C-4427-92F0-E1AF33E0F2B6}"/>
              </a:ext>
            </a:extLst>
          </p:cNvPr>
          <p:cNvSpPr/>
          <p:nvPr/>
        </p:nvSpPr>
        <p:spPr>
          <a:xfrm>
            <a:off x="6360042" y="1895579"/>
            <a:ext cx="595423" cy="3691830"/>
          </a:xfrm>
          <a:prstGeom prst="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F04BDEA-CA82-415A-B42D-A3BF482014A8}"/>
              </a:ext>
            </a:extLst>
          </p:cNvPr>
          <p:cNvSpPr/>
          <p:nvPr/>
        </p:nvSpPr>
        <p:spPr>
          <a:xfrm>
            <a:off x="668078" y="3842784"/>
            <a:ext cx="8677090" cy="212651"/>
          </a:xfrm>
          <a:prstGeom prst="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A4E7BFDF-F12D-4DE3-A1C2-A0127032DD8C}"/>
              </a:ext>
            </a:extLst>
          </p:cNvPr>
          <p:cNvSpPr/>
          <p:nvPr/>
        </p:nvSpPr>
        <p:spPr>
          <a:xfrm>
            <a:off x="9815623" y="2489791"/>
            <a:ext cx="595423" cy="212651"/>
          </a:xfrm>
          <a:prstGeom prst="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3E8A1429-B198-40FF-B3CD-9517C32D21AE}"/>
              </a:ext>
            </a:extLst>
          </p:cNvPr>
          <p:cNvSpPr txBox="1"/>
          <p:nvPr/>
        </p:nvSpPr>
        <p:spPr>
          <a:xfrm>
            <a:off x="10637897" y="2394289"/>
            <a:ext cx="9746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0070C0"/>
                </a:solidFill>
              </a:rPr>
              <a:t>Vektor</a:t>
            </a:r>
            <a:endParaRPr lang="de-DE" b="1" dirty="0">
              <a:solidFill>
                <a:srgbClr val="0070C0"/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23C9472-24E9-44F4-BB57-A512D68AC2B6}"/>
              </a:ext>
            </a:extLst>
          </p:cNvPr>
          <p:cNvSpPr/>
          <p:nvPr/>
        </p:nvSpPr>
        <p:spPr>
          <a:xfrm>
            <a:off x="3101163" y="1919127"/>
            <a:ext cx="2247014" cy="3691830"/>
          </a:xfrm>
          <a:prstGeom prst="rect">
            <a:avLst/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292D6678-9790-40B8-8D69-A6C10AD37FBE}"/>
              </a:ext>
            </a:extLst>
          </p:cNvPr>
          <p:cNvSpPr/>
          <p:nvPr/>
        </p:nvSpPr>
        <p:spPr>
          <a:xfrm>
            <a:off x="531155" y="4412512"/>
            <a:ext cx="2422923" cy="1023008"/>
          </a:xfrm>
          <a:prstGeom prst="rect">
            <a:avLst/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616735A-2B34-483B-9C46-3E95A0DE9088}"/>
              </a:ext>
            </a:extLst>
          </p:cNvPr>
          <p:cNvSpPr/>
          <p:nvPr/>
        </p:nvSpPr>
        <p:spPr>
          <a:xfrm>
            <a:off x="9815623" y="3060405"/>
            <a:ext cx="595423" cy="212651"/>
          </a:xfrm>
          <a:prstGeom prst="rect">
            <a:avLst/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9A4AEC68-F108-4C0B-8864-DC2CB484E02A}"/>
              </a:ext>
            </a:extLst>
          </p:cNvPr>
          <p:cNvSpPr txBox="1"/>
          <p:nvPr/>
        </p:nvSpPr>
        <p:spPr>
          <a:xfrm>
            <a:off x="10579396" y="2935897"/>
            <a:ext cx="976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FFC000"/>
                </a:solidFill>
              </a:rPr>
              <a:t>Matrix</a:t>
            </a:r>
            <a:endParaRPr lang="de-DE" b="1" dirty="0">
              <a:solidFill>
                <a:srgbClr val="FFC000"/>
              </a:solidFill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B32807F-1AC5-439E-9458-4AB983E5DBA2}"/>
              </a:ext>
            </a:extLst>
          </p:cNvPr>
          <p:cNvSpPr/>
          <p:nvPr/>
        </p:nvSpPr>
        <p:spPr>
          <a:xfrm>
            <a:off x="159488" y="1540559"/>
            <a:ext cx="9223745" cy="4110646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932DBDE9-61C3-4EF2-BCE2-5BF33C8E27A7}"/>
              </a:ext>
            </a:extLst>
          </p:cNvPr>
          <p:cNvSpPr/>
          <p:nvPr/>
        </p:nvSpPr>
        <p:spPr>
          <a:xfrm>
            <a:off x="9851286" y="3658716"/>
            <a:ext cx="595423" cy="212651"/>
          </a:xfrm>
          <a:prstGeom prst="rect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04F4B21E-7278-44B6-8CA5-BB87D3EC5653}"/>
              </a:ext>
            </a:extLst>
          </p:cNvPr>
          <p:cNvSpPr txBox="1"/>
          <p:nvPr/>
        </p:nvSpPr>
        <p:spPr>
          <a:xfrm>
            <a:off x="10517854" y="3516718"/>
            <a:ext cx="14841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7030A0"/>
                </a:solidFill>
              </a:rPr>
              <a:t>Dataframe</a:t>
            </a:r>
            <a:endParaRPr lang="de-DE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12487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8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82C04D-C07E-4106-B772-CE20CFE0D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902" y="2328333"/>
            <a:ext cx="11153553" cy="1658198"/>
          </a:xfrm>
        </p:spPr>
        <p:txBody>
          <a:bodyPr/>
          <a:lstStyle/>
          <a:p>
            <a:r>
              <a:rPr lang="de-DE" b="1" dirty="0">
                <a:solidFill>
                  <a:schemeClr val="bg1"/>
                </a:solidFill>
              </a:rPr>
              <a:t>Live Coding: Dataframes</a:t>
            </a:r>
          </a:p>
        </p:txBody>
      </p:sp>
    </p:spTree>
    <p:extLst>
      <p:ext uri="{BB962C8B-B14F-4D97-AF65-F5344CB8AC3E}">
        <p14:creationId xmlns:p14="http://schemas.microsoft.com/office/powerpoint/2010/main" val="24270569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03FD5D-0C57-4C4A-9C16-0AFCA3AC1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7224" y="499533"/>
            <a:ext cx="10772775" cy="999658"/>
          </a:xfrm>
        </p:spPr>
        <p:txBody>
          <a:bodyPr/>
          <a:lstStyle/>
          <a:p>
            <a:r>
              <a:rPr lang="de-DE" b="1" dirty="0"/>
              <a:t>Dataframes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ACF738-AB74-4918-8C3B-C479D336D5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656" y="1345019"/>
            <a:ext cx="10753725" cy="5013447"/>
          </a:xfrm>
        </p:spPr>
        <p:txBody>
          <a:bodyPr>
            <a:normAutofit fontScale="92500"/>
          </a:bodyPr>
          <a:lstStyle/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2800" dirty="0"/>
              <a:t>Das Kernstück von R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2800" dirty="0"/>
              <a:t>Analog der Excel Tabelle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2800" dirty="0"/>
              <a:t>Erweiterung der Matrix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2800" dirty="0"/>
              <a:t>Spalten können aus unterschiedlichen Datentypen bestehen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2800" dirty="0"/>
              <a:t>Spalten haben Namen!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2800" dirty="0"/>
              <a:t>Auswahl einzelner Spalten durch $Spaltennamen oder [ ,“Spaltennamen“]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2800" dirty="0"/>
              <a:t>Einlesen von Dataframes über ‚Import Dataset‘ oder </a:t>
            </a:r>
            <a:r>
              <a:rPr lang="de-DE" sz="2800" dirty="0" err="1"/>
              <a:t>read.table</a:t>
            </a:r>
            <a:r>
              <a:rPr lang="de-DE" sz="2800" dirty="0"/>
              <a:t>(), read.csv()</a:t>
            </a:r>
          </a:p>
        </p:txBody>
      </p:sp>
    </p:spTree>
    <p:extLst>
      <p:ext uri="{BB962C8B-B14F-4D97-AF65-F5344CB8AC3E}">
        <p14:creationId xmlns:p14="http://schemas.microsoft.com/office/powerpoint/2010/main" val="3420363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752B50-311C-4FC9-9B3E-E7F32C2E1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12" y="884788"/>
            <a:ext cx="10772775" cy="1558868"/>
          </a:xfrm>
        </p:spPr>
        <p:txBody>
          <a:bodyPr>
            <a:normAutofit/>
          </a:bodyPr>
          <a:lstStyle/>
          <a:p>
            <a:r>
              <a:rPr lang="de-DE" b="1" dirty="0"/>
              <a:t>Übung: Dataframes</a:t>
            </a:r>
          </a:p>
        </p:txBody>
      </p:sp>
    </p:spTree>
    <p:extLst>
      <p:ext uri="{BB962C8B-B14F-4D97-AF65-F5344CB8AC3E}">
        <p14:creationId xmlns:p14="http://schemas.microsoft.com/office/powerpoint/2010/main" val="4441584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8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B57258-F287-4CBC-8412-C532B2617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2104" y="2414895"/>
            <a:ext cx="10772775" cy="1658198"/>
          </a:xfrm>
        </p:spPr>
        <p:txBody>
          <a:bodyPr>
            <a:normAutofit fontScale="90000"/>
          </a:bodyPr>
          <a:lstStyle/>
          <a:p>
            <a:r>
              <a:rPr lang="de-DE" b="1" dirty="0">
                <a:solidFill>
                  <a:schemeClr val="bg1"/>
                </a:solidFill>
              </a:rPr>
              <a:t>Grafiken</a:t>
            </a:r>
            <a:br>
              <a:rPr lang="de-DE" b="1" dirty="0">
                <a:solidFill>
                  <a:schemeClr val="bg1"/>
                </a:solidFill>
              </a:rPr>
            </a:br>
            <a:br>
              <a:rPr lang="de-DE" b="1" dirty="0">
                <a:solidFill>
                  <a:schemeClr val="bg1"/>
                </a:solidFill>
              </a:rPr>
            </a:br>
            <a:r>
              <a:rPr lang="de-DE" sz="4000" b="1" dirty="0">
                <a:solidFill>
                  <a:schemeClr val="bg1"/>
                </a:solidFill>
              </a:rPr>
              <a:t>Histogramm, Dichtediagramm, Boxplot, Balkendiagramm und Scatterplot</a:t>
            </a:r>
            <a:endParaRPr lang="de-DE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935968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0BFE138C-5CE9-4502-A16E-6DD5394862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5354" y="571252"/>
            <a:ext cx="7620660" cy="571549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649BC34-58C5-47B4-9152-7E10A4241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772775" cy="1658198"/>
          </a:xfrm>
        </p:spPr>
        <p:txBody>
          <a:bodyPr/>
          <a:lstStyle/>
          <a:p>
            <a:r>
              <a:rPr lang="de-DE" dirty="0"/>
              <a:t>	</a:t>
            </a:r>
            <a:r>
              <a:rPr lang="de-DE" sz="4800" b="1" dirty="0">
                <a:solidFill>
                  <a:srgbClr val="4F81BD"/>
                </a:solidFill>
              </a:rPr>
              <a:t>Histogramm</a:t>
            </a:r>
            <a:endParaRPr lang="de-DE" b="1" dirty="0">
              <a:solidFill>
                <a:srgbClr val="4F81B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14806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E930B5-825A-4182-B473-4F834C777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0309" y="935284"/>
            <a:ext cx="10772775" cy="1030680"/>
          </a:xfrm>
        </p:spPr>
        <p:txBody>
          <a:bodyPr/>
          <a:lstStyle/>
          <a:p>
            <a:r>
              <a:rPr lang="de-DE" b="1" dirty="0"/>
              <a:t>Übung Histogramm</a:t>
            </a:r>
          </a:p>
        </p:txBody>
      </p:sp>
    </p:spTree>
    <p:extLst>
      <p:ext uri="{BB962C8B-B14F-4D97-AF65-F5344CB8AC3E}">
        <p14:creationId xmlns:p14="http://schemas.microsoft.com/office/powerpoint/2010/main" val="4376934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4C29E4C-DF96-45CB-AC70-3A99245DFB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4428" y="1028452"/>
            <a:ext cx="7620660" cy="571549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92C11D6-9B8E-4848-8D84-ACD9F14EC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035" y="274944"/>
            <a:ext cx="10772775" cy="944256"/>
          </a:xfrm>
        </p:spPr>
        <p:txBody>
          <a:bodyPr>
            <a:normAutofit/>
          </a:bodyPr>
          <a:lstStyle/>
          <a:p>
            <a:r>
              <a:rPr lang="de-DE" sz="4800" b="1" dirty="0"/>
              <a:t>Dichtediagramm</a:t>
            </a:r>
          </a:p>
        </p:txBody>
      </p:sp>
    </p:spTree>
    <p:extLst>
      <p:ext uri="{BB962C8B-B14F-4D97-AF65-F5344CB8AC3E}">
        <p14:creationId xmlns:p14="http://schemas.microsoft.com/office/powerpoint/2010/main" val="9953682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DD5EAD-7FF6-4D46-A636-A2300BFF86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576" y="1390284"/>
            <a:ext cx="10772775" cy="962444"/>
          </a:xfrm>
        </p:spPr>
        <p:txBody>
          <a:bodyPr/>
          <a:lstStyle/>
          <a:p>
            <a:r>
              <a:rPr lang="de-DE" b="1" dirty="0"/>
              <a:t>Übung Dichtediagramm</a:t>
            </a:r>
          </a:p>
        </p:txBody>
      </p:sp>
    </p:spTree>
    <p:extLst>
      <p:ext uri="{BB962C8B-B14F-4D97-AF65-F5344CB8AC3E}">
        <p14:creationId xmlns:p14="http://schemas.microsoft.com/office/powerpoint/2010/main" val="6294773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0AD64A4A-5C90-4930-8255-E531172402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670" y="571252"/>
            <a:ext cx="7620660" cy="571549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D70E82E2-0BEF-4CAB-823E-FB1BBD77F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7224" y="499533"/>
            <a:ext cx="10772775" cy="982426"/>
          </a:xfrm>
        </p:spPr>
        <p:txBody>
          <a:bodyPr>
            <a:normAutofit/>
          </a:bodyPr>
          <a:lstStyle/>
          <a:p>
            <a:r>
              <a:rPr lang="de-DE" sz="4800" b="1" dirty="0"/>
              <a:t>Boxplot</a:t>
            </a:r>
          </a:p>
        </p:txBody>
      </p:sp>
    </p:spTree>
    <p:extLst>
      <p:ext uri="{BB962C8B-B14F-4D97-AF65-F5344CB8AC3E}">
        <p14:creationId xmlns:p14="http://schemas.microsoft.com/office/powerpoint/2010/main" val="345603989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6F125F-4F09-4130-9999-82212092E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12" y="1138036"/>
            <a:ext cx="10772775" cy="978393"/>
          </a:xfrm>
        </p:spPr>
        <p:txBody>
          <a:bodyPr/>
          <a:lstStyle/>
          <a:p>
            <a:r>
              <a:rPr lang="de-DE" b="1" dirty="0"/>
              <a:t>Übung Boxplot</a:t>
            </a:r>
          </a:p>
        </p:txBody>
      </p:sp>
    </p:spTree>
    <p:extLst>
      <p:ext uri="{BB962C8B-B14F-4D97-AF65-F5344CB8AC3E}">
        <p14:creationId xmlns:p14="http://schemas.microsoft.com/office/powerpoint/2010/main" val="40161346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DAE17A41-8A66-4EB1-8EAC-C8426703FD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8863" y="571252"/>
            <a:ext cx="7620660" cy="571549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49618F6-334B-4AE1-8F5F-D25BF90BBD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9210" y="316522"/>
            <a:ext cx="10772775" cy="887833"/>
          </a:xfrm>
        </p:spPr>
        <p:txBody>
          <a:bodyPr/>
          <a:lstStyle/>
          <a:p>
            <a:r>
              <a:rPr lang="de-DE" sz="4800" b="1" dirty="0"/>
              <a:t>Balkendiagramm</a:t>
            </a:r>
            <a:endParaRPr lang="de-DE" b="1" dirty="0"/>
          </a:p>
        </p:txBody>
      </p:sp>
    </p:spTree>
    <p:extLst>
      <p:ext uri="{BB962C8B-B14F-4D97-AF65-F5344CB8AC3E}">
        <p14:creationId xmlns:p14="http://schemas.microsoft.com/office/powerpoint/2010/main" val="11596210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B2BF70-F744-49F7-ABC6-4C7ADFFDAE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458" y="893671"/>
            <a:ext cx="10772775" cy="994341"/>
          </a:xfrm>
        </p:spPr>
        <p:txBody>
          <a:bodyPr/>
          <a:lstStyle/>
          <a:p>
            <a:r>
              <a:rPr lang="de-DE" b="1" dirty="0"/>
              <a:t>Übung Balkendiagramm</a:t>
            </a:r>
          </a:p>
        </p:txBody>
      </p:sp>
    </p:spTree>
    <p:extLst>
      <p:ext uri="{BB962C8B-B14F-4D97-AF65-F5344CB8AC3E}">
        <p14:creationId xmlns:p14="http://schemas.microsoft.com/office/powerpoint/2010/main" val="22494186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1174C6F6-39D5-4AA2-9E2E-FDC207031A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670" y="1014394"/>
            <a:ext cx="7620660" cy="571549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75FB25E-E7A2-47B4-B54E-C22BBAC528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7224" y="499533"/>
            <a:ext cx="10772775" cy="1029722"/>
          </a:xfrm>
        </p:spPr>
        <p:txBody>
          <a:bodyPr/>
          <a:lstStyle/>
          <a:p>
            <a:r>
              <a:rPr lang="de-DE" sz="4800" b="1" dirty="0"/>
              <a:t>Scatterplot</a:t>
            </a:r>
            <a:endParaRPr lang="de-DE" b="1" dirty="0"/>
          </a:p>
        </p:txBody>
      </p:sp>
    </p:spTree>
    <p:extLst>
      <p:ext uri="{BB962C8B-B14F-4D97-AF65-F5344CB8AC3E}">
        <p14:creationId xmlns:p14="http://schemas.microsoft.com/office/powerpoint/2010/main" val="253864072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A5FD4C-F113-468D-929C-88B36AADE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008" y="799995"/>
            <a:ext cx="10772775" cy="1105983"/>
          </a:xfrm>
        </p:spPr>
        <p:txBody>
          <a:bodyPr/>
          <a:lstStyle/>
          <a:p>
            <a:r>
              <a:rPr lang="de-DE" b="1" dirty="0"/>
              <a:t>Übung Scatterplot</a:t>
            </a:r>
          </a:p>
        </p:txBody>
      </p:sp>
    </p:spTree>
    <p:extLst>
      <p:ext uri="{BB962C8B-B14F-4D97-AF65-F5344CB8AC3E}">
        <p14:creationId xmlns:p14="http://schemas.microsoft.com/office/powerpoint/2010/main" val="40793624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8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B57258-F287-4CBC-8412-C532B2617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316" y="2443832"/>
            <a:ext cx="10772775" cy="1658198"/>
          </a:xfrm>
        </p:spPr>
        <p:txBody>
          <a:bodyPr>
            <a:normAutofit fontScale="90000"/>
          </a:bodyPr>
          <a:lstStyle/>
          <a:p>
            <a:r>
              <a:rPr lang="de-DE" b="1" dirty="0">
                <a:solidFill>
                  <a:schemeClr val="bg1"/>
                </a:solidFill>
              </a:rPr>
              <a:t>Automatisierungen</a:t>
            </a:r>
            <a:br>
              <a:rPr lang="de-DE" b="1" dirty="0">
                <a:solidFill>
                  <a:schemeClr val="bg1"/>
                </a:solidFill>
              </a:rPr>
            </a:br>
            <a:br>
              <a:rPr lang="de-DE" b="1" dirty="0">
                <a:solidFill>
                  <a:schemeClr val="bg1"/>
                </a:solidFill>
              </a:rPr>
            </a:br>
            <a:r>
              <a:rPr lang="de-DE" sz="4000" b="1" dirty="0">
                <a:solidFill>
                  <a:schemeClr val="bg1"/>
                </a:solidFill>
              </a:rPr>
              <a:t>Eigene Funktionen, </a:t>
            </a:r>
            <a:r>
              <a:rPr lang="de-DE" sz="4000" b="1" dirty="0" err="1">
                <a:solidFill>
                  <a:schemeClr val="bg1"/>
                </a:solidFill>
              </a:rPr>
              <a:t>If</a:t>
            </a:r>
            <a:r>
              <a:rPr lang="de-DE" sz="4000" b="1" dirty="0">
                <a:solidFill>
                  <a:schemeClr val="bg1"/>
                </a:solidFill>
              </a:rPr>
              <a:t>-Else Bedingungen und Schleifen</a:t>
            </a:r>
            <a:endParaRPr lang="de-DE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290735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61D52C-4090-4D68-B29B-9900C5867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174" y="130041"/>
            <a:ext cx="10772775" cy="989311"/>
          </a:xfrm>
        </p:spPr>
        <p:txBody>
          <a:bodyPr/>
          <a:lstStyle/>
          <a:p>
            <a:r>
              <a:rPr lang="de-DE" b="1" dirty="0"/>
              <a:t>Eigene Funktionen schreiben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8D794F0-51CA-4F66-A67D-E4353E79C2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656" y="985345"/>
            <a:ext cx="10753725" cy="4838819"/>
          </a:xfrm>
        </p:spPr>
        <p:txBody>
          <a:bodyPr>
            <a:normAutofit lnSpcReduction="10000"/>
          </a:bodyPr>
          <a:lstStyle/>
          <a:p>
            <a:pPr lvl="1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de-DE" dirty="0"/>
              <a:t>Verhindert Wiederholung von Code</a:t>
            </a:r>
          </a:p>
          <a:p>
            <a:pPr lvl="1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de-DE" dirty="0"/>
              <a:t>Werden ebenfalls in Variablen gespeichert</a:t>
            </a:r>
          </a:p>
          <a:p>
            <a:pPr lvl="1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de-DE" dirty="0"/>
              <a:t>Körper der Funktion in { }</a:t>
            </a:r>
          </a:p>
          <a:p>
            <a:pPr lvl="1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de-DE" dirty="0"/>
              <a:t>Können mit Argumenten versehen werden</a:t>
            </a:r>
          </a:p>
          <a:p>
            <a:pPr lvl="1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de-DE" dirty="0"/>
              <a:t>Lokale Variablen existieren nur innerhalb { } und werden dann wieder gelöscht</a:t>
            </a:r>
          </a:p>
          <a:p>
            <a:pPr marL="4572" lvl="1" indent="0" algn="just">
              <a:lnSpc>
                <a:spcPct val="200000"/>
              </a:lnSpc>
              <a:buNone/>
            </a:pPr>
            <a:r>
              <a:rPr lang="de-DE" dirty="0"/>
              <a:t>	-&gt; können mit </a:t>
            </a:r>
            <a:r>
              <a:rPr lang="de-DE" dirty="0" err="1"/>
              <a:t>return</a:t>
            </a:r>
            <a:r>
              <a:rPr lang="de-DE" dirty="0"/>
              <a:t> ( ) ausgegeben werden </a:t>
            </a:r>
          </a:p>
          <a:p>
            <a:pPr lvl="1">
              <a:buFont typeface="Arial" panose="020B0604020202020204" pitchFamily="34" charset="0"/>
              <a:buChar char="•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85307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527AE5-27A9-445B-BD64-38DE7F107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 err="1"/>
              <a:t>If</a:t>
            </a:r>
            <a:r>
              <a:rPr lang="de-DE" b="1" dirty="0"/>
              <a:t>-Else Bedingungen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A221475-45E4-4BA8-8463-28D33DCFA6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Font typeface="Arial" panose="020B0604020202020204" pitchFamily="34" charset="0"/>
              <a:buChar char="•"/>
            </a:pPr>
            <a:r>
              <a:rPr lang="de-DE" dirty="0"/>
              <a:t>Ein/Aus Schalter, wenn nur </a:t>
            </a:r>
            <a:r>
              <a:rPr lang="de-DE" dirty="0" err="1"/>
              <a:t>if</a:t>
            </a:r>
            <a:r>
              <a:rPr lang="de-DE" dirty="0"/>
              <a:t>( ) { } verwendet wird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de-DE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de-DE" dirty="0"/>
              <a:t>Wie Weiche wenn </a:t>
            </a:r>
            <a:r>
              <a:rPr lang="de-DE" dirty="0" err="1"/>
              <a:t>if</a:t>
            </a:r>
            <a:r>
              <a:rPr lang="de-DE" dirty="0"/>
              <a:t>( ){ } </a:t>
            </a:r>
            <a:r>
              <a:rPr lang="de-DE" dirty="0" err="1"/>
              <a:t>else</a:t>
            </a:r>
            <a:r>
              <a:rPr lang="de-DE" dirty="0"/>
              <a:t>{ } verwendet wird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de-DE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de-DE" dirty="0"/>
              <a:t>In Automatisierungen sehr wichtig im ungewolltes Verhalten abzufangen</a:t>
            </a:r>
          </a:p>
        </p:txBody>
      </p:sp>
    </p:spTree>
    <p:extLst>
      <p:ext uri="{BB962C8B-B14F-4D97-AF65-F5344CB8AC3E}">
        <p14:creationId xmlns:p14="http://schemas.microsoft.com/office/powerpoint/2010/main" val="548204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78A32F-A1FB-490A-82F1-27B7B4336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341" y="1090740"/>
            <a:ext cx="10772775" cy="1658198"/>
          </a:xfrm>
        </p:spPr>
        <p:txBody>
          <a:bodyPr/>
          <a:lstStyle/>
          <a:p>
            <a:r>
              <a:rPr lang="de-DE" b="1" dirty="0"/>
              <a:t>Übung: Eigene Funktionen</a:t>
            </a:r>
          </a:p>
        </p:txBody>
      </p:sp>
    </p:spTree>
    <p:extLst>
      <p:ext uri="{BB962C8B-B14F-4D97-AF65-F5344CB8AC3E}">
        <p14:creationId xmlns:p14="http://schemas.microsoft.com/office/powerpoint/2010/main" val="200328816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78A32F-A1FB-490A-82F1-27B7B4336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Schleifen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1D7419C-78E8-4760-B7CA-4F89D304FC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656" y="1857736"/>
            <a:ext cx="10753725" cy="4421529"/>
          </a:xfrm>
        </p:spPr>
        <p:txBody>
          <a:bodyPr>
            <a:normAutofit/>
          </a:bodyPr>
          <a:lstStyle/>
          <a:p>
            <a:pPr lvl="1">
              <a:buFont typeface="Arial" panose="020B0604020202020204" pitchFamily="34" charset="0"/>
              <a:buChar char="•"/>
            </a:pPr>
            <a:r>
              <a:rPr lang="de-DE" dirty="0" err="1"/>
              <a:t>For</a:t>
            </a:r>
            <a:r>
              <a:rPr lang="de-DE" dirty="0"/>
              <a:t> Schleife wiederholt alles in { } mit jedem Wert aus einem Vektor</a:t>
            </a:r>
          </a:p>
          <a:p>
            <a:pPr marL="4572" lvl="1" indent="0">
              <a:buNone/>
            </a:pPr>
            <a:r>
              <a:rPr lang="de-DE" dirty="0"/>
              <a:t>	</a:t>
            </a:r>
            <a:r>
              <a:rPr lang="de-DE" b="1" dirty="0" err="1"/>
              <a:t>for</a:t>
            </a:r>
            <a:r>
              <a:rPr lang="de-DE" b="1" dirty="0"/>
              <a:t>(i in </a:t>
            </a:r>
            <a:r>
              <a:rPr lang="de-DE" b="1" dirty="0" err="1"/>
              <a:t>vec</a:t>
            </a:r>
            <a:r>
              <a:rPr lang="de-DE" b="1" dirty="0"/>
              <a:t>){}</a:t>
            </a:r>
          </a:p>
          <a:p>
            <a:pPr marL="4572" lvl="1" indent="0">
              <a:buNone/>
            </a:pPr>
            <a:endParaRPr lang="de-DE" dirty="0"/>
          </a:p>
          <a:p>
            <a:pPr marL="4572" lvl="1" indent="0">
              <a:buNone/>
            </a:pPr>
            <a:r>
              <a:rPr lang="de-DE" dirty="0"/>
              <a:t>	-&gt; i nimmt nacheinander alle Werte aus </a:t>
            </a:r>
            <a:r>
              <a:rPr lang="de-DE" dirty="0" err="1"/>
              <a:t>vec</a:t>
            </a:r>
            <a:r>
              <a:rPr lang="de-DE" dirty="0"/>
              <a:t> an</a:t>
            </a:r>
          </a:p>
          <a:p>
            <a:pPr lvl="1">
              <a:buFont typeface="Arial" panose="020B0604020202020204" pitchFamily="34" charset="0"/>
              <a:buChar char="•"/>
            </a:pPr>
            <a:endParaRPr lang="de-DE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de-DE" dirty="0" err="1"/>
              <a:t>While</a:t>
            </a:r>
            <a:r>
              <a:rPr lang="de-DE" dirty="0"/>
              <a:t> Schleife wiederholt alles in { } bis die logische Abfrage FALSE ist</a:t>
            </a:r>
          </a:p>
          <a:p>
            <a:pPr marL="4572" lvl="1" indent="0">
              <a:buNone/>
            </a:pPr>
            <a:r>
              <a:rPr lang="de-DE" dirty="0"/>
              <a:t>	</a:t>
            </a:r>
            <a:r>
              <a:rPr lang="de-DE" b="1" dirty="0" err="1"/>
              <a:t>while</a:t>
            </a:r>
            <a:r>
              <a:rPr lang="de-DE" b="1" dirty="0"/>
              <a:t> logische Abfrage {}</a:t>
            </a:r>
          </a:p>
          <a:p>
            <a:pPr marL="4572" lvl="1" indent="0">
              <a:buNone/>
            </a:pPr>
            <a:endParaRPr lang="de-DE" dirty="0"/>
          </a:p>
          <a:p>
            <a:pPr marL="4572" lvl="1" indent="0">
              <a:buNone/>
            </a:pPr>
            <a:r>
              <a:rPr lang="de-DE" dirty="0"/>
              <a:t>	-&gt; wird verwendet, wenn nicht klar ist wie oft die Schleife wiederholt werden 		muss</a:t>
            </a:r>
          </a:p>
        </p:txBody>
      </p:sp>
    </p:spTree>
    <p:extLst>
      <p:ext uri="{BB962C8B-B14F-4D97-AF65-F5344CB8AC3E}">
        <p14:creationId xmlns:p14="http://schemas.microsoft.com/office/powerpoint/2010/main" val="1353607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8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B57258-F287-4CBC-8412-C532B2617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316" y="2542217"/>
            <a:ext cx="10772775" cy="1658198"/>
          </a:xfrm>
        </p:spPr>
        <p:txBody>
          <a:bodyPr>
            <a:normAutofit fontScale="90000"/>
          </a:bodyPr>
          <a:lstStyle/>
          <a:p>
            <a:r>
              <a:rPr lang="de-DE" b="1" dirty="0">
                <a:solidFill>
                  <a:schemeClr val="bg1"/>
                </a:solidFill>
              </a:rPr>
              <a:t>Geschafft …</a:t>
            </a:r>
            <a:br>
              <a:rPr lang="de-DE" b="1" dirty="0">
                <a:solidFill>
                  <a:schemeClr val="bg1"/>
                </a:solidFill>
              </a:rPr>
            </a:br>
            <a:br>
              <a:rPr lang="de-DE" b="1" dirty="0">
                <a:solidFill>
                  <a:schemeClr val="bg1"/>
                </a:solidFill>
              </a:rPr>
            </a:br>
            <a:endParaRPr lang="de-DE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10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8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B57258-F287-4CBC-8412-C532B2617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316" y="2443832"/>
            <a:ext cx="10772775" cy="1658198"/>
          </a:xfrm>
        </p:spPr>
        <p:txBody>
          <a:bodyPr>
            <a:normAutofit fontScale="90000"/>
          </a:bodyPr>
          <a:lstStyle/>
          <a:p>
            <a:r>
              <a:rPr lang="de-DE" b="1" dirty="0">
                <a:solidFill>
                  <a:schemeClr val="bg1"/>
                </a:solidFill>
              </a:rPr>
              <a:t>Geschafft …</a:t>
            </a:r>
            <a:br>
              <a:rPr lang="de-DE" b="1" dirty="0">
                <a:solidFill>
                  <a:schemeClr val="bg1"/>
                </a:solidFill>
              </a:rPr>
            </a:br>
            <a:br>
              <a:rPr lang="de-DE" b="1" dirty="0">
                <a:solidFill>
                  <a:schemeClr val="bg1"/>
                </a:solidFill>
              </a:rPr>
            </a:br>
            <a:r>
              <a:rPr lang="de-DE" sz="4000" b="1" dirty="0">
                <a:solidFill>
                  <a:schemeClr val="bg1"/>
                </a:solidFill>
              </a:rPr>
              <a:t>Jetzt irgendwie dran bleiben!</a:t>
            </a:r>
            <a:endParaRPr lang="de-DE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9893348"/>
      </p:ext>
    </p:extLst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TM03457491[[fn=Metropolitan]]</Template>
  <TotalTime>0</TotalTime>
  <Words>835</Words>
  <Application>Microsoft Office PowerPoint</Application>
  <PresentationFormat>Breitbild</PresentationFormat>
  <Paragraphs>159</Paragraphs>
  <Slides>45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45</vt:i4>
      </vt:variant>
    </vt:vector>
  </HeadingPairs>
  <TitlesOfParts>
    <vt:vector size="48" baseType="lpstr">
      <vt:lpstr>Arial</vt:lpstr>
      <vt:lpstr>Calibri Light</vt:lpstr>
      <vt:lpstr>Metropolitan</vt:lpstr>
      <vt:lpstr>Einführung in die Programmiersprache R</vt:lpstr>
      <vt:lpstr>Ziele des Kurses</vt:lpstr>
      <vt:lpstr>Warum R? – 4 Gründe</vt:lpstr>
      <vt:lpstr>Inhalte</vt:lpstr>
      <vt:lpstr>Wie? Warum? Was?</vt:lpstr>
      <vt:lpstr>Grundlagen: Operatoren, Datenstrukturen, Funktionen</vt:lpstr>
      <vt:lpstr>Datenstrukturen in R</vt:lpstr>
      <vt:lpstr>Live Coding: Operatoren und Variablen</vt:lpstr>
      <vt:lpstr>Operatoren</vt:lpstr>
      <vt:lpstr>Werte</vt:lpstr>
      <vt:lpstr>Variablen</vt:lpstr>
      <vt:lpstr>Übung: Operatoren und Variablen</vt:lpstr>
      <vt:lpstr>Datenstrukturen in R: Vektoren</vt:lpstr>
      <vt:lpstr>Live Coding: Vektoren</vt:lpstr>
      <vt:lpstr>Vektoren</vt:lpstr>
      <vt:lpstr>Übung: Vektoren</vt:lpstr>
      <vt:lpstr>Live Coding: Funktionen</vt:lpstr>
      <vt:lpstr>Funktionen</vt:lpstr>
      <vt:lpstr>Übung: Funktionen</vt:lpstr>
      <vt:lpstr>Datenstrukturen in R: Matrizen</vt:lpstr>
      <vt:lpstr>Live Coding: Matrizen</vt:lpstr>
      <vt:lpstr>Matrizen</vt:lpstr>
      <vt:lpstr>Übung: Matrizen</vt:lpstr>
      <vt:lpstr>Datenstrukturen in R: Dataframes</vt:lpstr>
      <vt:lpstr>Live Coding: Dataframes</vt:lpstr>
      <vt:lpstr>Dataframes</vt:lpstr>
      <vt:lpstr>Übung: Dataframes</vt:lpstr>
      <vt:lpstr>Grafiken  Histogramm, Dichtediagramm, Boxplot, Balkendiagramm und Scatterplot</vt:lpstr>
      <vt:lpstr> Histogramm</vt:lpstr>
      <vt:lpstr>Übung Histogramm</vt:lpstr>
      <vt:lpstr>Dichtediagramm</vt:lpstr>
      <vt:lpstr>Übung Dichtediagramm</vt:lpstr>
      <vt:lpstr>Boxplot</vt:lpstr>
      <vt:lpstr>Übung Boxplot</vt:lpstr>
      <vt:lpstr>Balkendiagramm</vt:lpstr>
      <vt:lpstr>Übung Balkendiagramm</vt:lpstr>
      <vt:lpstr>Scatterplot</vt:lpstr>
      <vt:lpstr>Übung Scatterplot</vt:lpstr>
      <vt:lpstr>Automatisierungen  Eigene Funktionen, If-Else Bedingungen und Schleifen</vt:lpstr>
      <vt:lpstr>Eigene Funktionen schreiben</vt:lpstr>
      <vt:lpstr>If-Else Bedingungen</vt:lpstr>
      <vt:lpstr>Übung: Eigene Funktionen</vt:lpstr>
      <vt:lpstr>Schleifen</vt:lpstr>
      <vt:lpstr>Geschafft …  </vt:lpstr>
      <vt:lpstr>Geschafft …  Jetzt irgendwie dran bleiben!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Einführung in R</dc:title>
  <dc:creator>Florian</dc:creator>
  <cp:lastModifiedBy>Florian</cp:lastModifiedBy>
  <cp:revision>108</cp:revision>
  <dcterms:created xsi:type="dcterms:W3CDTF">2024-08-16T08:03:14Z</dcterms:created>
  <dcterms:modified xsi:type="dcterms:W3CDTF">2025-07-03T23:07:34Z</dcterms:modified>
</cp:coreProperties>
</file>