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67" r:id="rId3"/>
    <p:sldId id="257" r:id="rId4"/>
    <p:sldId id="270" r:id="rId5"/>
    <p:sldId id="271" r:id="rId6"/>
    <p:sldId id="272" r:id="rId7"/>
    <p:sldId id="268" r:id="rId8"/>
    <p:sldId id="259" r:id="rId9"/>
    <p:sldId id="273" r:id="rId10"/>
    <p:sldId id="264" r:id="rId11"/>
    <p:sldId id="298" r:id="rId12"/>
    <p:sldId id="258" r:id="rId13"/>
    <p:sldId id="260" r:id="rId14"/>
    <p:sldId id="299" r:id="rId15"/>
    <p:sldId id="274" r:id="rId16"/>
    <p:sldId id="276" r:id="rId17"/>
    <p:sldId id="275" r:id="rId18"/>
    <p:sldId id="261" r:id="rId19"/>
    <p:sldId id="277" r:id="rId20"/>
    <p:sldId id="278" r:id="rId21"/>
    <p:sldId id="269" r:id="rId22"/>
    <p:sldId id="279" r:id="rId23"/>
    <p:sldId id="283" r:id="rId24"/>
    <p:sldId id="280" r:id="rId25"/>
    <p:sldId id="262" r:id="rId26"/>
    <p:sldId id="282" r:id="rId27"/>
    <p:sldId id="284" r:id="rId28"/>
    <p:sldId id="281" r:id="rId29"/>
    <p:sldId id="263" r:id="rId30"/>
    <p:sldId id="285" r:id="rId31"/>
    <p:sldId id="287" r:id="rId32"/>
    <p:sldId id="300" r:id="rId33"/>
    <p:sldId id="288" r:id="rId34"/>
    <p:sldId id="301" r:id="rId35"/>
    <p:sldId id="289" r:id="rId36"/>
    <p:sldId id="302" r:id="rId37"/>
    <p:sldId id="291" r:id="rId38"/>
    <p:sldId id="303" r:id="rId39"/>
    <p:sldId id="290" r:id="rId40"/>
    <p:sldId id="304" r:id="rId41"/>
    <p:sldId id="292" r:id="rId42"/>
    <p:sldId id="293" r:id="rId43"/>
    <p:sldId id="305" r:id="rId44"/>
    <p:sldId id="306" r:id="rId45"/>
    <p:sldId id="307" r:id="rId46"/>
    <p:sldId id="294" r:id="rId47"/>
    <p:sldId id="295" r:id="rId48"/>
    <p:sldId id="296" r:id="rId49"/>
    <p:sldId id="297"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96"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de-DE"/>
              <a:t>Mastertitelformat bearbeiten</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de-DE"/>
              <a:t>Master-Untertitelformat bearbeiten</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01.07.2025</a:t>
            </a:fld>
            <a:endParaRPr lang="de-DE"/>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339613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25611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de-DE"/>
              <a:t>Mastertitelformat bearbeiten</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70663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3F46AE61-50B3-4440-BB01-1FF85E3E82A7}" type="datetimeFigureOut">
              <a:rPr lang="de-DE" smtClean="0"/>
              <a:t>01.07.2025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4195534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de-DE"/>
              <a:t>Mastertitelformat bearbeiten</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3F46AE61-50B3-4440-BB01-1FF85E3E82A7}" type="datetimeFigureOut">
              <a:rPr lang="de-DE" smtClean="0"/>
              <a:t>01.07.2025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792723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3F46AE61-50B3-4440-BB01-1FF85E3E82A7}" type="datetimeFigureOut">
              <a:rPr lang="de-DE" smtClean="0"/>
              <a:t>01.07.2025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417621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6AE61-50B3-4440-BB01-1FF85E3E82A7}" type="datetimeFigureOut">
              <a:rPr lang="de-DE" smtClean="0"/>
              <a:t>01.07.2025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624280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de-DE"/>
              <a:t>Mastertextformat bearbeiten</a:t>
            </a:r>
          </a:p>
        </p:txBody>
      </p:sp>
      <p:sp>
        <p:nvSpPr>
          <p:cNvPr id="5" name="Date Placeholder 4"/>
          <p:cNvSpPr>
            <a:spLocks noGrp="1"/>
          </p:cNvSpPr>
          <p:nvPr>
            <p:ph type="dt" sz="half" idx="10"/>
          </p:nvPr>
        </p:nvSpPr>
        <p:spPr/>
        <p:txBody>
          <a:bodyPr/>
          <a:lstStyle/>
          <a:p>
            <a:fld id="{3F46AE61-50B3-4440-BB01-1FF85E3E82A7}" type="datetimeFigureOut">
              <a:rPr lang="de-DE" smtClean="0"/>
              <a:t>01.07.2025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199190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01.07.2025</a:t>
            </a:fld>
            <a:endParaRPr lang="de-DE"/>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424892494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331887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01.07.2025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43901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3F46AE61-50B3-4440-BB01-1FF85E3E82A7}" type="datetimeFigureOut">
              <a:rPr lang="de-DE" smtClean="0"/>
              <a:t>01.07.2025</a:t>
            </a:fld>
            <a:endParaRPr lang="de-DE"/>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de-DE"/>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2585557726"/>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hiny.posit.co/r/gallery/start-simple/word-cloud/" TargetMode="External"/><Relationship Id="rId2" Type="http://schemas.openxmlformats.org/officeDocument/2006/relationships/hyperlink" Target="https://shiny.posit.co/r/gallery/" TargetMode="External"/><Relationship Id="rId1" Type="http://schemas.openxmlformats.org/officeDocument/2006/relationships/slideLayout" Target="../slideLayouts/slideLayout2.xml"/><Relationship Id="rId4" Type="http://schemas.openxmlformats.org/officeDocument/2006/relationships/hyperlink" Target="https://shiny.posit.co/r/gallery/life-sciences/biodiversity-national-park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posit.co/download/rstudio-desktop/"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B3E67B-695B-4898-B632-95F9090D532A}"/>
              </a:ext>
            </a:extLst>
          </p:cNvPr>
          <p:cNvSpPr>
            <a:spLocks noGrp="1"/>
          </p:cNvSpPr>
          <p:nvPr>
            <p:ph type="ctrTitle"/>
          </p:nvPr>
        </p:nvSpPr>
        <p:spPr/>
        <p:txBody>
          <a:bodyPr/>
          <a:lstStyle/>
          <a:p>
            <a:r>
              <a:rPr lang="de-DE" sz="8000" b="1" dirty="0"/>
              <a:t>Einführung in die Programmiersprache R</a:t>
            </a:r>
          </a:p>
        </p:txBody>
      </p:sp>
      <p:sp>
        <p:nvSpPr>
          <p:cNvPr id="5" name="Untertitel 4">
            <a:extLst>
              <a:ext uri="{FF2B5EF4-FFF2-40B4-BE49-F238E27FC236}">
                <a16:creationId xmlns:a16="http://schemas.microsoft.com/office/drawing/2014/main" id="{D143ED2D-A854-4D96-9651-F3D4EB0A7EC3}"/>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3516245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BB87A6-D61E-40FE-BB2B-BC109C6B3D93}"/>
              </a:ext>
            </a:extLst>
          </p:cNvPr>
          <p:cNvSpPr>
            <a:spLocks noGrp="1"/>
          </p:cNvSpPr>
          <p:nvPr>
            <p:ph type="title"/>
          </p:nvPr>
        </p:nvSpPr>
        <p:spPr>
          <a:xfrm>
            <a:off x="738964" y="102037"/>
            <a:ext cx="8309343" cy="1154003"/>
          </a:xfrm>
        </p:spPr>
        <p:txBody>
          <a:bodyPr/>
          <a:lstStyle/>
          <a:p>
            <a:r>
              <a:rPr lang="de-DE" b="1" dirty="0"/>
              <a:t>Ziele des Kurses</a:t>
            </a:r>
          </a:p>
        </p:txBody>
      </p:sp>
      <p:sp>
        <p:nvSpPr>
          <p:cNvPr id="8" name="Gleichschenkliges Dreieck 7">
            <a:extLst>
              <a:ext uri="{FF2B5EF4-FFF2-40B4-BE49-F238E27FC236}">
                <a16:creationId xmlns:a16="http://schemas.microsoft.com/office/drawing/2014/main" id="{D5A8D03E-9023-4284-AF7C-4E7CA03DD535}"/>
              </a:ext>
            </a:extLst>
          </p:cNvPr>
          <p:cNvSpPr/>
          <p:nvPr/>
        </p:nvSpPr>
        <p:spPr>
          <a:xfrm>
            <a:off x="4035055" y="1160294"/>
            <a:ext cx="7759110" cy="5194892"/>
          </a:xfrm>
          <a:prstGeom prst="triangle">
            <a:avLst/>
          </a:prstGeom>
          <a:solidFill>
            <a:srgbClr val="4F81B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abgerundete Ecken 4">
            <a:extLst>
              <a:ext uri="{FF2B5EF4-FFF2-40B4-BE49-F238E27FC236}">
                <a16:creationId xmlns:a16="http://schemas.microsoft.com/office/drawing/2014/main" id="{3345A024-8FF3-40B7-BEC1-03D335774080}"/>
              </a:ext>
            </a:extLst>
          </p:cNvPr>
          <p:cNvSpPr/>
          <p:nvPr/>
        </p:nvSpPr>
        <p:spPr>
          <a:xfrm>
            <a:off x="2078222" y="1398412"/>
            <a:ext cx="5836388" cy="96139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de-DE" sz="2400" dirty="0">
                <a:solidFill>
                  <a:schemeClr val="tx1"/>
                </a:solidFill>
              </a:rPr>
              <a:t>Daten einlesen, aufbereiten, analysieren und visualisieren</a:t>
            </a:r>
          </a:p>
        </p:txBody>
      </p:sp>
      <p:sp>
        <p:nvSpPr>
          <p:cNvPr id="6" name="Rechteck: abgerundete Ecken 5">
            <a:extLst>
              <a:ext uri="{FF2B5EF4-FFF2-40B4-BE49-F238E27FC236}">
                <a16:creationId xmlns:a16="http://schemas.microsoft.com/office/drawing/2014/main" id="{3FD3B1CA-2E98-4C9D-9FF8-A2CE2E95C9EF}"/>
              </a:ext>
            </a:extLst>
          </p:cNvPr>
          <p:cNvSpPr/>
          <p:nvPr/>
        </p:nvSpPr>
        <p:spPr>
          <a:xfrm>
            <a:off x="2037907" y="3009408"/>
            <a:ext cx="6000307" cy="1015409"/>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a:r>
              <a:rPr lang="de-DE" sz="2400" kern="0" dirty="0">
                <a:solidFill>
                  <a:sysClr val="windowText" lastClr="000000"/>
                </a:solidFill>
              </a:rPr>
              <a:t>Vermittlung der Grundlagen für eigenständige Weiterbildung</a:t>
            </a:r>
          </a:p>
        </p:txBody>
      </p:sp>
      <p:sp>
        <p:nvSpPr>
          <p:cNvPr id="7" name="Rechteck: abgerundete Ecken 6">
            <a:extLst>
              <a:ext uri="{FF2B5EF4-FFF2-40B4-BE49-F238E27FC236}">
                <a16:creationId xmlns:a16="http://schemas.microsoft.com/office/drawing/2014/main" id="{E2CD539F-5E76-49E0-9D3F-6C0AF89D4520}"/>
              </a:ext>
            </a:extLst>
          </p:cNvPr>
          <p:cNvSpPr/>
          <p:nvPr/>
        </p:nvSpPr>
        <p:spPr>
          <a:xfrm>
            <a:off x="2037907" y="4682297"/>
            <a:ext cx="5915246" cy="120814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defTabSz="914400"/>
            <a:r>
              <a:rPr lang="de-DE" sz="2400" kern="0" dirty="0">
                <a:solidFill>
                  <a:sysClr val="windowText" lastClr="000000"/>
                </a:solidFill>
              </a:rPr>
              <a:t>Aufbau von Frustrationstoleranz</a:t>
            </a:r>
          </a:p>
        </p:txBody>
      </p:sp>
      <p:sp>
        <p:nvSpPr>
          <p:cNvPr id="9" name="Textfeld 8">
            <a:extLst>
              <a:ext uri="{FF2B5EF4-FFF2-40B4-BE49-F238E27FC236}">
                <a16:creationId xmlns:a16="http://schemas.microsoft.com/office/drawing/2014/main" id="{834A5640-56B7-435D-A8DC-15B2FF236DA3}"/>
              </a:ext>
            </a:extLst>
          </p:cNvPr>
          <p:cNvSpPr txBox="1"/>
          <p:nvPr/>
        </p:nvSpPr>
        <p:spPr>
          <a:xfrm>
            <a:off x="2624469" y="5459588"/>
            <a:ext cx="4742121" cy="400110"/>
          </a:xfrm>
          <a:prstGeom prst="rect">
            <a:avLst/>
          </a:prstGeom>
          <a:noFill/>
        </p:spPr>
        <p:txBody>
          <a:bodyPr wrap="square" rtlCol="0">
            <a:spAutoFit/>
          </a:bodyPr>
          <a:lstStyle/>
          <a:p>
            <a:r>
              <a:rPr lang="de-DE" sz="2000" b="1" dirty="0">
                <a:solidFill>
                  <a:srgbClr val="C00000"/>
                </a:solidFill>
              </a:rPr>
              <a:t>Wichtigste Kompetenz beim Programmieren!</a:t>
            </a:r>
          </a:p>
        </p:txBody>
      </p:sp>
    </p:spTree>
    <p:extLst>
      <p:ext uri="{BB962C8B-B14F-4D97-AF65-F5344CB8AC3E}">
        <p14:creationId xmlns:p14="http://schemas.microsoft.com/office/powerpoint/2010/main" val="2180960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 grpId="0" animBg="1"/>
      <p:bldP spid="6" grpId="0" animBg="1"/>
      <p:bldP spid="7"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3C6933-6D3D-4D1D-A3F6-D1B681117398}"/>
              </a:ext>
            </a:extLst>
          </p:cNvPr>
          <p:cNvSpPr>
            <a:spLocks noGrp="1"/>
          </p:cNvSpPr>
          <p:nvPr>
            <p:ph type="title"/>
          </p:nvPr>
        </p:nvSpPr>
        <p:spPr>
          <a:xfrm>
            <a:off x="620010" y="228403"/>
            <a:ext cx="10772775" cy="1052820"/>
          </a:xfrm>
        </p:spPr>
        <p:txBody>
          <a:bodyPr/>
          <a:lstStyle/>
          <a:p>
            <a:r>
              <a:rPr lang="de-DE" b="1" dirty="0">
                <a:solidFill>
                  <a:srgbClr val="4F81BD"/>
                </a:solidFill>
              </a:rPr>
              <a:t>Warum R? – 4 Gründe</a:t>
            </a:r>
          </a:p>
        </p:txBody>
      </p:sp>
      <p:sp>
        <p:nvSpPr>
          <p:cNvPr id="3" name="Inhaltsplatzhalter 2">
            <a:extLst>
              <a:ext uri="{FF2B5EF4-FFF2-40B4-BE49-F238E27FC236}">
                <a16:creationId xmlns:a16="http://schemas.microsoft.com/office/drawing/2014/main" id="{94EB8A9B-6500-4485-AEDC-806CD651CDCB}"/>
              </a:ext>
            </a:extLst>
          </p:cNvPr>
          <p:cNvSpPr>
            <a:spLocks noGrp="1"/>
          </p:cNvSpPr>
          <p:nvPr>
            <p:ph idx="1"/>
          </p:nvPr>
        </p:nvSpPr>
        <p:spPr>
          <a:xfrm>
            <a:off x="676656" y="1188098"/>
            <a:ext cx="10753725" cy="5441499"/>
          </a:xfrm>
        </p:spPr>
        <p:txBody>
          <a:bodyPr>
            <a:noAutofit/>
          </a:bodyPr>
          <a:lstStyle/>
          <a:p>
            <a:pPr marL="457200" indent="-457200">
              <a:buFont typeface="+mj-lt"/>
              <a:buAutoNum type="arabicPeriod"/>
            </a:pPr>
            <a:r>
              <a:rPr lang="de-DE" sz="2800" b="1" dirty="0">
                <a:solidFill>
                  <a:srgbClr val="4F81BD"/>
                </a:solidFill>
              </a:rPr>
              <a:t>Vielseitige und mächtige Software</a:t>
            </a:r>
          </a:p>
          <a:p>
            <a:pPr marL="4572" lvl="1" indent="0">
              <a:buNone/>
            </a:pPr>
            <a:r>
              <a:rPr lang="de-DE" sz="2200" dirty="0"/>
              <a:t>	- ständige Weiterentwicklung durch Community (R Pakete)</a:t>
            </a:r>
          </a:p>
          <a:p>
            <a:pPr marL="4572" lvl="1" indent="0">
              <a:buNone/>
            </a:pPr>
            <a:r>
              <a:rPr lang="de-DE" sz="2200" dirty="0"/>
              <a:t>	- ermöglicht Auswertung von komplexen Fragestellungen </a:t>
            </a:r>
          </a:p>
          <a:p>
            <a:pPr marL="4572" lvl="1" indent="0">
              <a:buNone/>
            </a:pPr>
            <a:r>
              <a:rPr lang="de-DE" sz="2200" dirty="0"/>
              <a:t>		</a:t>
            </a:r>
            <a:r>
              <a:rPr lang="de-DE" sz="2200" dirty="0" err="1"/>
              <a:t>Bsp</a:t>
            </a:r>
            <a:r>
              <a:rPr lang="de-DE" sz="2200" dirty="0"/>
              <a:t>: Klassifizierung von Satellitenbildern mit </a:t>
            </a:r>
            <a:r>
              <a:rPr lang="de-DE" sz="2200" dirty="0" err="1"/>
              <a:t>Machine</a:t>
            </a:r>
            <a:r>
              <a:rPr lang="de-DE" sz="2200" dirty="0"/>
              <a:t> Learning Algorithmen  </a:t>
            </a:r>
          </a:p>
          <a:p>
            <a:pPr marL="457200" indent="-457200">
              <a:buFont typeface="+mj-lt"/>
              <a:buAutoNum type="arabicPeriod"/>
            </a:pPr>
            <a:r>
              <a:rPr lang="de-DE" sz="2800" b="1" dirty="0">
                <a:solidFill>
                  <a:srgbClr val="4F81BD"/>
                </a:solidFill>
              </a:rPr>
              <a:t>Kostenlos!</a:t>
            </a:r>
          </a:p>
          <a:p>
            <a:pPr marL="457200" indent="-457200">
              <a:buFont typeface="+mj-lt"/>
              <a:buAutoNum type="arabicPeriod"/>
            </a:pPr>
            <a:r>
              <a:rPr lang="de-DE" sz="2800" b="1" dirty="0">
                <a:solidFill>
                  <a:srgbClr val="4F81BD"/>
                </a:solidFill>
              </a:rPr>
              <a:t>Standard in Umwelt- und Forstwissenschaften</a:t>
            </a:r>
          </a:p>
          <a:p>
            <a:pPr marL="4572" lvl="1" indent="0">
              <a:buNone/>
            </a:pPr>
            <a:r>
              <a:rPr lang="de-DE" dirty="0"/>
              <a:t>	- </a:t>
            </a:r>
            <a:r>
              <a:rPr lang="de-DE" sz="2200" dirty="0"/>
              <a:t>vereinfacht Austausch von Forschungsergebnissen und Modellen zwischen 			Einrichtungen</a:t>
            </a:r>
          </a:p>
          <a:p>
            <a:pPr marL="205740" indent="-457200">
              <a:buFont typeface="+mj-lt"/>
              <a:buAutoNum type="arabicPeriod"/>
            </a:pPr>
            <a:r>
              <a:rPr lang="de-DE" sz="2800" b="1" dirty="0">
                <a:solidFill>
                  <a:srgbClr val="4F81BD"/>
                </a:solidFill>
              </a:rPr>
              <a:t>R ist eine Programmiersprache</a:t>
            </a:r>
          </a:p>
          <a:p>
            <a:pPr marL="0" indent="0">
              <a:buNone/>
            </a:pPr>
            <a:r>
              <a:rPr lang="de-DE" dirty="0"/>
              <a:t>	</a:t>
            </a:r>
            <a:r>
              <a:rPr lang="de-DE" sz="2200" dirty="0"/>
              <a:t>- Programmier-Skills lassen sich auf andere Programmiersprachen wie Python, C++, 		Java etc. übertragen</a:t>
            </a:r>
          </a:p>
          <a:p>
            <a:pPr marL="0" indent="0">
              <a:buNone/>
            </a:pPr>
            <a:r>
              <a:rPr lang="de-DE" sz="2200" dirty="0"/>
              <a:t>	- Datenauswertung wird automatisch dokumentiert -&gt; Fehler lassen sich 				nachvollziehen </a:t>
            </a:r>
          </a:p>
        </p:txBody>
      </p:sp>
    </p:spTree>
    <p:extLst>
      <p:ext uri="{BB962C8B-B14F-4D97-AF65-F5344CB8AC3E}">
        <p14:creationId xmlns:p14="http://schemas.microsoft.com/office/powerpoint/2010/main" val="356203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A104F6-3FE4-4C40-BF8A-F4BDCE497FD3}"/>
              </a:ext>
            </a:extLst>
          </p:cNvPr>
          <p:cNvSpPr>
            <a:spLocks noGrp="1"/>
          </p:cNvSpPr>
          <p:nvPr>
            <p:ph type="title"/>
          </p:nvPr>
        </p:nvSpPr>
        <p:spPr/>
        <p:txBody>
          <a:bodyPr/>
          <a:lstStyle/>
          <a:p>
            <a:r>
              <a:rPr lang="de-DE" dirty="0"/>
              <a:t>Ausblick: </a:t>
            </a:r>
            <a:r>
              <a:rPr lang="de-DE" dirty="0" err="1"/>
              <a:t>ShinyApps</a:t>
            </a:r>
            <a:endParaRPr lang="de-DE" dirty="0"/>
          </a:p>
        </p:txBody>
      </p:sp>
      <p:sp>
        <p:nvSpPr>
          <p:cNvPr id="3" name="Inhaltsplatzhalter 2">
            <a:extLst>
              <a:ext uri="{FF2B5EF4-FFF2-40B4-BE49-F238E27FC236}">
                <a16:creationId xmlns:a16="http://schemas.microsoft.com/office/drawing/2014/main" id="{0641ED57-2C43-41D3-BD74-1EAAD8B696F1}"/>
              </a:ext>
            </a:extLst>
          </p:cNvPr>
          <p:cNvSpPr>
            <a:spLocks noGrp="1"/>
          </p:cNvSpPr>
          <p:nvPr>
            <p:ph idx="1"/>
          </p:nvPr>
        </p:nvSpPr>
        <p:spPr>
          <a:xfrm>
            <a:off x="719137" y="2592282"/>
            <a:ext cx="10753725" cy="3766185"/>
          </a:xfrm>
        </p:spPr>
        <p:txBody>
          <a:bodyPr/>
          <a:lstStyle/>
          <a:p>
            <a:r>
              <a:rPr lang="de-DE" dirty="0">
                <a:hlinkClick r:id="rId2"/>
              </a:rPr>
              <a:t>https://shiny.posit.co/r/gallery/</a:t>
            </a:r>
            <a:endParaRPr lang="de-DE" dirty="0"/>
          </a:p>
          <a:p>
            <a:r>
              <a:rPr lang="de-DE" dirty="0">
                <a:hlinkClick r:id="rId3"/>
              </a:rPr>
              <a:t>https://shiny.posit.co/r/gallery/start-simple/word-cloud/</a:t>
            </a:r>
            <a:endParaRPr lang="de-DE" dirty="0"/>
          </a:p>
          <a:p>
            <a:r>
              <a:rPr lang="de-DE" dirty="0">
                <a:hlinkClick r:id="rId4"/>
              </a:rPr>
              <a:t>https://shiny.posit.co/r/gallery/life-sciences/biodiversity-national-parks/</a:t>
            </a:r>
            <a:endParaRPr lang="de-DE" dirty="0"/>
          </a:p>
          <a:p>
            <a:endParaRPr lang="de-DE" dirty="0"/>
          </a:p>
        </p:txBody>
      </p:sp>
    </p:spTree>
    <p:extLst>
      <p:ext uri="{BB962C8B-B14F-4D97-AF65-F5344CB8AC3E}">
        <p14:creationId xmlns:p14="http://schemas.microsoft.com/office/powerpoint/2010/main" val="2020609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626A2C-6314-4DF8-AEAF-1598B8888A8A}"/>
              </a:ext>
            </a:extLst>
          </p:cNvPr>
          <p:cNvSpPr>
            <a:spLocks noGrp="1"/>
          </p:cNvSpPr>
          <p:nvPr>
            <p:ph type="title"/>
          </p:nvPr>
        </p:nvSpPr>
        <p:spPr>
          <a:xfrm>
            <a:off x="588112" y="223087"/>
            <a:ext cx="10772775" cy="981449"/>
          </a:xfrm>
        </p:spPr>
        <p:txBody>
          <a:bodyPr/>
          <a:lstStyle/>
          <a:p>
            <a:r>
              <a:rPr lang="de-DE" b="1" dirty="0">
                <a:solidFill>
                  <a:srgbClr val="4F81BD"/>
                </a:solidFill>
              </a:rPr>
              <a:t>Inhalte</a:t>
            </a:r>
          </a:p>
        </p:txBody>
      </p:sp>
      <p:sp>
        <p:nvSpPr>
          <p:cNvPr id="8" name="Textfeld 7">
            <a:extLst>
              <a:ext uri="{FF2B5EF4-FFF2-40B4-BE49-F238E27FC236}">
                <a16:creationId xmlns:a16="http://schemas.microsoft.com/office/drawing/2014/main" id="{1D13942C-EB21-4684-817C-05E846B50E1B}"/>
              </a:ext>
            </a:extLst>
          </p:cNvPr>
          <p:cNvSpPr txBox="1"/>
          <p:nvPr/>
        </p:nvSpPr>
        <p:spPr>
          <a:xfrm>
            <a:off x="997078" y="1394606"/>
            <a:ext cx="9128051" cy="1384995"/>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Grundlagen:</a:t>
            </a:r>
          </a:p>
          <a:p>
            <a:pPr marL="4572" lvl="1" indent="0">
              <a:buNone/>
            </a:pPr>
            <a:r>
              <a:rPr lang="de-DE" sz="2800" dirty="0"/>
              <a:t>Datenstrukturen, Operatoren und Funktionen</a:t>
            </a:r>
          </a:p>
          <a:p>
            <a:pPr marL="4572" lvl="1" indent="0">
              <a:buNone/>
            </a:pPr>
            <a:endParaRPr lang="de-DE" sz="2800" i="0" dirty="0"/>
          </a:p>
        </p:txBody>
      </p:sp>
      <p:sp>
        <p:nvSpPr>
          <p:cNvPr id="9" name="Textfeld 8">
            <a:extLst>
              <a:ext uri="{FF2B5EF4-FFF2-40B4-BE49-F238E27FC236}">
                <a16:creationId xmlns:a16="http://schemas.microsoft.com/office/drawing/2014/main" id="{3E534967-124A-4813-A4AC-86171E65A7CE}"/>
              </a:ext>
            </a:extLst>
          </p:cNvPr>
          <p:cNvSpPr txBox="1"/>
          <p:nvPr/>
        </p:nvSpPr>
        <p:spPr>
          <a:xfrm>
            <a:off x="1006381" y="4756465"/>
            <a:ext cx="9146658" cy="1384995"/>
          </a:xfrm>
          <a:prstGeom prst="rect">
            <a:avLst/>
          </a:prstGeom>
          <a:solidFill>
            <a:srgbClr val="4F81BD"/>
          </a:solidFill>
        </p:spPr>
        <p:txBody>
          <a:bodyPr wrap="square" rtlCol="0">
            <a:spAutoFit/>
          </a:bodyPr>
          <a:lstStyle/>
          <a:p>
            <a:pPr marL="0" lvl="2" indent="0">
              <a:buNone/>
            </a:pPr>
            <a:r>
              <a:rPr lang="de-DE" sz="2800" b="1" i="0" dirty="0">
                <a:solidFill>
                  <a:schemeClr val="bg1"/>
                </a:solidFill>
              </a:rPr>
              <a:t>Automatisierung:</a:t>
            </a:r>
          </a:p>
          <a:p>
            <a:pPr marL="0" lvl="2" indent="0">
              <a:buNone/>
            </a:pPr>
            <a:r>
              <a:rPr lang="de-DE" sz="2800" i="0" dirty="0"/>
              <a:t>Konditionen</a:t>
            </a:r>
            <a:r>
              <a:rPr lang="de-DE" sz="2800" dirty="0"/>
              <a:t>, </a:t>
            </a:r>
            <a:r>
              <a:rPr lang="de-DE" sz="2800" i="0" dirty="0"/>
              <a:t>Schleifen und eigene Funktionen</a:t>
            </a:r>
          </a:p>
          <a:p>
            <a:pPr marL="0" lvl="2" indent="0">
              <a:buNone/>
            </a:pPr>
            <a:endParaRPr lang="de-DE" sz="2800" i="0" dirty="0"/>
          </a:p>
        </p:txBody>
      </p:sp>
      <p:sp>
        <p:nvSpPr>
          <p:cNvPr id="5" name="Textfeld 4">
            <a:extLst>
              <a:ext uri="{FF2B5EF4-FFF2-40B4-BE49-F238E27FC236}">
                <a16:creationId xmlns:a16="http://schemas.microsoft.com/office/drawing/2014/main" id="{C37795E6-2ADB-4DED-8BCF-80F27B1C807D}"/>
              </a:ext>
            </a:extLst>
          </p:cNvPr>
          <p:cNvSpPr txBox="1"/>
          <p:nvPr/>
        </p:nvSpPr>
        <p:spPr>
          <a:xfrm>
            <a:off x="997077" y="3152480"/>
            <a:ext cx="9128051" cy="1231106"/>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Grafiken:</a:t>
            </a:r>
          </a:p>
          <a:p>
            <a:pPr marL="4572" lvl="1" indent="0">
              <a:buNone/>
            </a:pPr>
            <a:r>
              <a:rPr lang="de-DE" sz="2800" dirty="0"/>
              <a:t>Grafiken in R</a:t>
            </a:r>
          </a:p>
          <a:p>
            <a:pPr marL="4572" lvl="1" indent="0">
              <a:buNone/>
            </a:pPr>
            <a:endParaRPr lang="de-DE" dirty="0"/>
          </a:p>
        </p:txBody>
      </p:sp>
    </p:spTree>
    <p:extLst>
      <p:ext uri="{BB962C8B-B14F-4D97-AF65-F5344CB8AC3E}">
        <p14:creationId xmlns:p14="http://schemas.microsoft.com/office/powerpoint/2010/main" val="396738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4AD58-EE10-4922-A7BC-9E9EB83C290C}"/>
              </a:ext>
            </a:extLst>
          </p:cNvPr>
          <p:cNvSpPr>
            <a:spLocks noGrp="1"/>
          </p:cNvSpPr>
          <p:nvPr>
            <p:ph type="title"/>
          </p:nvPr>
        </p:nvSpPr>
        <p:spPr/>
        <p:txBody>
          <a:bodyPr/>
          <a:lstStyle/>
          <a:p>
            <a:r>
              <a:rPr lang="de-DE" dirty="0"/>
              <a:t>Ablauf</a:t>
            </a:r>
          </a:p>
        </p:txBody>
      </p:sp>
      <p:sp>
        <p:nvSpPr>
          <p:cNvPr id="3" name="Inhaltsplatzhalter 2">
            <a:extLst>
              <a:ext uri="{FF2B5EF4-FFF2-40B4-BE49-F238E27FC236}">
                <a16:creationId xmlns:a16="http://schemas.microsoft.com/office/drawing/2014/main" id="{12E1BCA6-6D1F-4073-9450-F3C84BBE46AA}"/>
              </a:ext>
            </a:extLst>
          </p:cNvPr>
          <p:cNvSpPr>
            <a:spLocks noGrp="1"/>
          </p:cNvSpPr>
          <p:nvPr>
            <p:ph idx="1"/>
          </p:nvPr>
        </p:nvSpPr>
        <p:spPr/>
        <p:txBody>
          <a:bodyPr>
            <a:normAutofit lnSpcReduction="10000"/>
          </a:bodyPr>
          <a:lstStyle/>
          <a:p>
            <a:pPr marL="0" indent="0">
              <a:buNone/>
            </a:pPr>
            <a:r>
              <a:rPr lang="de-DE" sz="3200" dirty="0"/>
              <a:t> 9:45 – 13:00 mit kleineren Pausen</a:t>
            </a:r>
          </a:p>
          <a:p>
            <a:r>
              <a:rPr lang="de-DE" sz="3200" dirty="0"/>
              <a:t>Pause</a:t>
            </a:r>
          </a:p>
          <a:p>
            <a:r>
              <a:rPr lang="de-DE" sz="3200" dirty="0"/>
              <a:t>14:00</a:t>
            </a:r>
          </a:p>
          <a:p>
            <a:endParaRPr lang="de-DE" sz="3200" dirty="0"/>
          </a:p>
          <a:p>
            <a:r>
              <a:rPr lang="de-DE" sz="3200" dirty="0"/>
              <a:t>Mischung aus PowerPoint Folien, Live Coding und Übungen</a:t>
            </a:r>
          </a:p>
          <a:p>
            <a:endParaRPr lang="de-DE" dirty="0"/>
          </a:p>
          <a:p>
            <a:r>
              <a:rPr lang="de-DE" sz="2800" dirty="0"/>
              <a:t>Regelmäßige Teilnahme ist Voraussetzung für das Bestehen des Kurses!</a:t>
            </a:r>
          </a:p>
        </p:txBody>
      </p:sp>
    </p:spTree>
    <p:extLst>
      <p:ext uri="{BB962C8B-B14F-4D97-AF65-F5344CB8AC3E}">
        <p14:creationId xmlns:p14="http://schemas.microsoft.com/office/powerpoint/2010/main" val="1340847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F3CB14-631E-4C5C-9540-2B486A0596D0}"/>
              </a:ext>
            </a:extLst>
          </p:cNvPr>
          <p:cNvSpPr>
            <a:spLocks noGrp="1"/>
          </p:cNvSpPr>
          <p:nvPr>
            <p:ph type="title"/>
          </p:nvPr>
        </p:nvSpPr>
        <p:spPr>
          <a:xfrm>
            <a:off x="676656" y="138026"/>
            <a:ext cx="10772775" cy="1658198"/>
          </a:xfrm>
        </p:spPr>
        <p:txBody>
          <a:bodyPr/>
          <a:lstStyle/>
          <a:p>
            <a:r>
              <a:rPr lang="de-DE" b="1" dirty="0">
                <a:solidFill>
                  <a:srgbClr val="4F81BD"/>
                </a:solidFill>
              </a:rPr>
              <a:t>Wie? Warum? Was?</a:t>
            </a:r>
          </a:p>
        </p:txBody>
      </p:sp>
      <p:sp>
        <p:nvSpPr>
          <p:cNvPr id="3" name="Inhaltsplatzhalter 2">
            <a:extLst>
              <a:ext uri="{FF2B5EF4-FFF2-40B4-BE49-F238E27FC236}">
                <a16:creationId xmlns:a16="http://schemas.microsoft.com/office/drawing/2014/main" id="{5F3C6564-70C3-4D65-94C3-483418EA0C1E}"/>
              </a:ext>
            </a:extLst>
          </p:cNvPr>
          <p:cNvSpPr>
            <a:spLocks noGrp="1"/>
          </p:cNvSpPr>
          <p:nvPr>
            <p:ph idx="1"/>
          </p:nvPr>
        </p:nvSpPr>
        <p:spPr>
          <a:xfrm>
            <a:off x="676656" y="2011680"/>
            <a:ext cx="10753725" cy="4054194"/>
          </a:xfrm>
        </p:spPr>
        <p:txBody>
          <a:bodyPr>
            <a:normAutofit/>
          </a:bodyPr>
          <a:lstStyle/>
          <a:p>
            <a:r>
              <a:rPr lang="de-DE" sz="3200" dirty="0"/>
              <a:t>In Programmiervorlesungen meist Fokus auf das </a:t>
            </a:r>
            <a:r>
              <a:rPr lang="de-DE" sz="3200" b="1" dirty="0"/>
              <a:t>Wie</a:t>
            </a:r>
          </a:p>
          <a:p>
            <a:endParaRPr lang="de-DE" sz="3200" b="1" dirty="0"/>
          </a:p>
          <a:p>
            <a:r>
              <a:rPr lang="de-DE" sz="3200" b="1" dirty="0"/>
              <a:t>Warum</a:t>
            </a:r>
            <a:r>
              <a:rPr lang="de-DE" sz="3200" dirty="0"/>
              <a:t> bleibt oft auf der Strecke</a:t>
            </a:r>
          </a:p>
          <a:p>
            <a:pPr lvl="1"/>
            <a:r>
              <a:rPr lang="de-DE" b="1" dirty="0">
                <a:solidFill>
                  <a:srgbClr val="FF0000"/>
                </a:solidFill>
              </a:rPr>
              <a:t>-&gt; sobald die Warum Frage für Sie nicht geklärt ist, bitte sofort fragen</a:t>
            </a:r>
          </a:p>
          <a:p>
            <a:pPr lvl="1"/>
            <a:endParaRPr lang="de-DE" b="1" dirty="0">
              <a:solidFill>
                <a:srgbClr val="FF0000"/>
              </a:solidFill>
              <a:sym typeface="Wingdings" panose="05000000000000000000" pitchFamily="2" charset="2"/>
            </a:endParaRPr>
          </a:p>
          <a:p>
            <a:r>
              <a:rPr lang="de-DE" sz="3200" b="1" dirty="0">
                <a:sym typeface="Wingdings" panose="05000000000000000000" pitchFamily="2" charset="2"/>
              </a:rPr>
              <a:t>Was</a:t>
            </a:r>
            <a:r>
              <a:rPr lang="de-DE" sz="3200" dirty="0">
                <a:sym typeface="Wingdings" panose="05000000000000000000" pitchFamily="2" charset="2"/>
              </a:rPr>
              <a:t> zur Hölle machen wir gerade?!</a:t>
            </a:r>
          </a:p>
          <a:p>
            <a:pPr lvl="1"/>
            <a:r>
              <a:rPr lang="de-DE" dirty="0">
                <a:sym typeface="Wingdings" panose="05000000000000000000" pitchFamily="2" charset="2"/>
              </a:rPr>
              <a:t>Nicht abhängen lassen. Geben Sie mir die Chance Sie wieder abzuholen </a:t>
            </a:r>
          </a:p>
          <a:p>
            <a:pPr lvl="1"/>
            <a:endParaRPr lang="de-DE" dirty="0">
              <a:sym typeface="Wingdings" panose="05000000000000000000" pitchFamily="2" charset="2"/>
            </a:endParaRPr>
          </a:p>
        </p:txBody>
      </p:sp>
    </p:spTree>
    <p:extLst>
      <p:ext uri="{BB962C8B-B14F-4D97-AF65-F5344CB8AC3E}">
        <p14:creationId xmlns:p14="http://schemas.microsoft.com/office/powerpoint/2010/main" val="3031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BFC3E5-C14C-45D2-BD61-4046892D6AA2}"/>
              </a:ext>
            </a:extLst>
          </p:cNvPr>
          <p:cNvSpPr>
            <a:spLocks noGrp="1"/>
          </p:cNvSpPr>
          <p:nvPr>
            <p:ph type="title"/>
          </p:nvPr>
        </p:nvSpPr>
        <p:spPr/>
        <p:txBody>
          <a:bodyPr/>
          <a:lstStyle/>
          <a:p>
            <a:r>
              <a:rPr lang="de-DE" dirty="0"/>
              <a:t>Installation R und R Studio</a:t>
            </a:r>
          </a:p>
        </p:txBody>
      </p:sp>
      <p:sp>
        <p:nvSpPr>
          <p:cNvPr id="3" name="Inhaltsplatzhalter 2">
            <a:extLst>
              <a:ext uri="{FF2B5EF4-FFF2-40B4-BE49-F238E27FC236}">
                <a16:creationId xmlns:a16="http://schemas.microsoft.com/office/drawing/2014/main" id="{4E2E7174-84C9-457F-84EE-9C94D38A3AAA}"/>
              </a:ext>
            </a:extLst>
          </p:cNvPr>
          <p:cNvSpPr>
            <a:spLocks noGrp="1"/>
          </p:cNvSpPr>
          <p:nvPr>
            <p:ph idx="1"/>
          </p:nvPr>
        </p:nvSpPr>
        <p:spPr/>
        <p:txBody>
          <a:bodyPr/>
          <a:lstStyle/>
          <a:p>
            <a:r>
              <a:rPr lang="de-DE" dirty="0">
                <a:hlinkClick r:id="rId2"/>
              </a:rPr>
              <a:t>https://posit.co/download/rstudio-desktop/</a:t>
            </a:r>
            <a:endParaRPr lang="de-DE" dirty="0"/>
          </a:p>
          <a:p>
            <a:endParaRPr lang="de-DE" dirty="0"/>
          </a:p>
        </p:txBody>
      </p:sp>
    </p:spTree>
    <p:extLst>
      <p:ext uri="{BB962C8B-B14F-4D97-AF65-F5344CB8AC3E}">
        <p14:creationId xmlns:p14="http://schemas.microsoft.com/office/powerpoint/2010/main" val="1162293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normAutofit/>
          </a:bodyPr>
          <a:lstStyle/>
          <a:p>
            <a:r>
              <a:rPr lang="de-DE" b="1" dirty="0">
                <a:solidFill>
                  <a:schemeClr val="bg1"/>
                </a:solidFill>
              </a:rPr>
              <a:t>Grundlagen:</a:t>
            </a:r>
            <a:br>
              <a:rPr lang="de-DE" b="1" dirty="0">
                <a:solidFill>
                  <a:schemeClr val="bg1"/>
                </a:solidFill>
              </a:rPr>
            </a:br>
            <a:r>
              <a:rPr lang="de-DE" sz="4400" dirty="0">
                <a:solidFill>
                  <a:schemeClr val="bg1"/>
                </a:solidFill>
              </a:rPr>
              <a:t>Operatoren, Datenstrukturen, Funktionen</a:t>
            </a:r>
            <a:endParaRPr lang="de-DE" dirty="0">
              <a:solidFill>
                <a:schemeClr val="bg1"/>
              </a:solidFill>
            </a:endParaRPr>
          </a:p>
        </p:txBody>
      </p:sp>
    </p:spTree>
    <p:extLst>
      <p:ext uri="{BB962C8B-B14F-4D97-AF65-F5344CB8AC3E}">
        <p14:creationId xmlns:p14="http://schemas.microsoft.com/office/powerpoint/2010/main" val="22164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solidFill>
                  <a:srgbClr val="4F81BD"/>
                </a:solidFill>
              </a:rPr>
              <a:t>Datenstrukturen in R</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84365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animBg="1"/>
      <p:bldP spid="13" grpId="0" animBg="1"/>
      <p:bldP spid="14" grpId="0" animBg="1"/>
      <p:bldP spid="15" grpId="0"/>
      <p:bldP spid="16" grpId="0" animBg="1"/>
      <p:bldP spid="17" grpId="0" animBg="1"/>
      <p:bldP spid="18" grpId="0" animBg="1"/>
      <p:bldP spid="19" grpId="0"/>
      <p:bldP spid="20" grpId="0" animBg="1"/>
      <p:bldP spid="21" grpId="0" animBg="1"/>
      <p:bldP spid="2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Operatoren und Variablen</a:t>
            </a:r>
          </a:p>
        </p:txBody>
      </p:sp>
    </p:spTree>
    <p:extLst>
      <p:ext uri="{BB962C8B-B14F-4D97-AF65-F5344CB8AC3E}">
        <p14:creationId xmlns:p14="http://schemas.microsoft.com/office/powerpoint/2010/main" val="3684483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407509-513C-47CC-8009-8AD3E405F82F}"/>
              </a:ext>
            </a:extLst>
          </p:cNvPr>
          <p:cNvSpPr>
            <a:spLocks noGrp="1"/>
          </p:cNvSpPr>
          <p:nvPr>
            <p:ph type="title"/>
          </p:nvPr>
        </p:nvSpPr>
        <p:spPr>
          <a:xfrm>
            <a:off x="676274" y="334729"/>
            <a:ext cx="10772775" cy="1042188"/>
          </a:xfrm>
        </p:spPr>
        <p:txBody>
          <a:bodyPr/>
          <a:lstStyle/>
          <a:p>
            <a:r>
              <a:rPr lang="de-DE" b="1" dirty="0"/>
              <a:t>Operatoren</a:t>
            </a:r>
          </a:p>
        </p:txBody>
      </p:sp>
      <p:sp>
        <p:nvSpPr>
          <p:cNvPr id="3" name="Inhaltsplatzhalter 2">
            <a:extLst>
              <a:ext uri="{FF2B5EF4-FFF2-40B4-BE49-F238E27FC236}">
                <a16:creationId xmlns:a16="http://schemas.microsoft.com/office/drawing/2014/main" id="{6F6163AC-D70A-4FCA-9081-8094260F0750}"/>
              </a:ext>
            </a:extLst>
          </p:cNvPr>
          <p:cNvSpPr>
            <a:spLocks noGrp="1"/>
          </p:cNvSpPr>
          <p:nvPr>
            <p:ph idx="1"/>
          </p:nvPr>
        </p:nvSpPr>
        <p:spPr>
          <a:xfrm>
            <a:off x="676274" y="1600200"/>
            <a:ext cx="10753725" cy="4412511"/>
          </a:xfrm>
        </p:spPr>
        <p:txBody>
          <a:bodyPr>
            <a:normAutofit fontScale="70000" lnSpcReduction="20000"/>
          </a:bodyPr>
          <a:lstStyle/>
          <a:p>
            <a:pPr lvl="1">
              <a:buFont typeface="Arial" panose="020B0604020202020204" pitchFamily="34" charset="0"/>
              <a:buChar char="•"/>
            </a:pPr>
            <a:r>
              <a:rPr lang="de-DE" sz="2600" b="1" dirty="0"/>
              <a:t>Mathematische Operatoren</a:t>
            </a:r>
          </a:p>
          <a:p>
            <a:pPr marL="4572" lvl="1" indent="0">
              <a:buNone/>
            </a:pPr>
            <a:r>
              <a:rPr lang="de-DE" sz="2600" dirty="0"/>
              <a:t>	+     -     *     /     ^     %%</a:t>
            </a:r>
          </a:p>
          <a:p>
            <a:pPr marL="4572" lvl="1" indent="0">
              <a:buNone/>
            </a:pPr>
            <a:r>
              <a:rPr lang="de-DE" sz="2600" dirty="0"/>
              <a:t>	führen mathematische Operationen aus</a:t>
            </a:r>
          </a:p>
          <a:p>
            <a:pPr marL="4572" lvl="1" indent="0">
              <a:buNone/>
            </a:pPr>
            <a:endParaRPr lang="de-DE" dirty="0"/>
          </a:p>
          <a:p>
            <a:pPr lvl="1">
              <a:buFont typeface="Arial" panose="020B0604020202020204" pitchFamily="34" charset="0"/>
              <a:buChar char="•"/>
            </a:pPr>
            <a:endParaRPr lang="de-DE" dirty="0"/>
          </a:p>
          <a:p>
            <a:pPr lvl="1">
              <a:buFont typeface="Arial" panose="020B0604020202020204" pitchFamily="34" charset="0"/>
              <a:buChar char="•"/>
            </a:pPr>
            <a:r>
              <a:rPr lang="de-DE" sz="2600" b="1" dirty="0"/>
              <a:t>Logische Operatoren</a:t>
            </a:r>
          </a:p>
          <a:p>
            <a:pPr marL="4572" lvl="1" indent="0">
              <a:buNone/>
            </a:pPr>
            <a:r>
              <a:rPr lang="de-DE" sz="2600" dirty="0"/>
              <a:t>	&gt;     &lt;     &gt;=     &lt;=     ==    !=</a:t>
            </a:r>
          </a:p>
          <a:p>
            <a:pPr marL="4572" lvl="1" indent="0">
              <a:buNone/>
            </a:pPr>
            <a:r>
              <a:rPr lang="de-DE" sz="2600" dirty="0"/>
              <a:t>	geben TRUE oder FALSE zurück</a:t>
            </a:r>
          </a:p>
          <a:p>
            <a:pPr marL="4572" lvl="1" indent="0">
              <a:buNone/>
            </a:pPr>
            <a:endParaRPr lang="de-DE" sz="2600" dirty="0"/>
          </a:p>
          <a:p>
            <a:pPr lvl="1">
              <a:buFont typeface="Arial" panose="020B0604020202020204" pitchFamily="34" charset="0"/>
              <a:buChar char="•"/>
            </a:pPr>
            <a:r>
              <a:rPr lang="de-DE" sz="2600" b="1" dirty="0"/>
              <a:t>Verknüpfung logischer Abfragen</a:t>
            </a:r>
          </a:p>
          <a:p>
            <a:pPr marL="4572" lvl="1" indent="0">
              <a:buNone/>
            </a:pPr>
            <a:r>
              <a:rPr lang="de-DE" dirty="0"/>
              <a:t>	</a:t>
            </a:r>
            <a:r>
              <a:rPr lang="de-DE" sz="2600" dirty="0"/>
              <a:t>Und: &amp;&amp;		gibt TRUE zurück wenn beide Bedingungen TRUE sind</a:t>
            </a:r>
          </a:p>
          <a:p>
            <a:pPr marL="4572" lvl="1" indent="0">
              <a:buNone/>
            </a:pPr>
            <a:r>
              <a:rPr lang="de-DE" sz="2600" dirty="0"/>
              <a:t>	Oder: ||		gibt TRUE zurück wenn eine der beiden Bedingungen TRUE ist</a:t>
            </a:r>
          </a:p>
          <a:p>
            <a:pPr lvl="1">
              <a:buFont typeface="Arial" panose="020B0604020202020204" pitchFamily="34" charset="0"/>
              <a:buChar char="•"/>
            </a:pPr>
            <a:endParaRPr lang="de-DE" sz="2600" dirty="0"/>
          </a:p>
          <a:p>
            <a:pPr lvl="1">
              <a:buFont typeface="Arial" panose="020B0604020202020204" pitchFamily="34" charset="0"/>
              <a:buChar char="•"/>
            </a:pPr>
            <a:r>
              <a:rPr lang="de-DE" sz="2800" b="1" dirty="0"/>
              <a:t>Zuweisungsoperatoren</a:t>
            </a:r>
          </a:p>
          <a:p>
            <a:pPr marL="4572" lvl="1" indent="0">
              <a:buNone/>
            </a:pPr>
            <a:r>
              <a:rPr lang="de-DE" sz="2800" dirty="0"/>
              <a:t>	&lt;-     =</a:t>
            </a:r>
          </a:p>
          <a:p>
            <a:pPr marL="4572" lvl="1" indent="0">
              <a:buNone/>
            </a:pPr>
            <a:r>
              <a:rPr lang="de-DE" sz="2800" dirty="0"/>
              <a:t>	Speichern Werte oder Wörter in einer Variablen</a:t>
            </a:r>
          </a:p>
          <a:p>
            <a:pPr marL="4572" lvl="1" indent="0">
              <a:buNone/>
            </a:pPr>
            <a:endParaRPr lang="de-DE" dirty="0"/>
          </a:p>
        </p:txBody>
      </p:sp>
    </p:spTree>
    <p:extLst>
      <p:ext uri="{BB962C8B-B14F-4D97-AF65-F5344CB8AC3E}">
        <p14:creationId xmlns:p14="http://schemas.microsoft.com/office/powerpoint/2010/main" val="4203500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Werte</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a:xfrm>
            <a:off x="676656" y="2011681"/>
            <a:ext cx="10753343" cy="3466836"/>
          </a:xfrm>
        </p:spPr>
        <p:txBody>
          <a:bodyPr>
            <a:normAutofit fontScale="92500"/>
          </a:bodyPr>
          <a:lstStyle/>
          <a:p>
            <a:pPr lvl="1">
              <a:lnSpc>
                <a:spcPct val="200000"/>
              </a:lnSpc>
              <a:buFont typeface="Arial" panose="020B0604020202020204" pitchFamily="34" charset="0"/>
              <a:buChar char="•"/>
            </a:pPr>
            <a:r>
              <a:rPr lang="de-DE" sz="2800" dirty="0"/>
              <a:t>Bestehen aus einer Zahl oder Text</a:t>
            </a:r>
          </a:p>
          <a:p>
            <a:pPr lvl="1">
              <a:lnSpc>
                <a:spcPct val="200000"/>
              </a:lnSpc>
              <a:buFont typeface="Arial" panose="020B0604020202020204" pitchFamily="34" charset="0"/>
              <a:buChar char="•"/>
            </a:pPr>
            <a:r>
              <a:rPr lang="de-DE" sz="2800" dirty="0"/>
              <a:t>Auf Zahlen lassen sich mathematische und logische Operatoren anwenden</a:t>
            </a:r>
          </a:p>
          <a:p>
            <a:pPr lvl="1">
              <a:lnSpc>
                <a:spcPct val="200000"/>
              </a:lnSpc>
              <a:buFont typeface="Arial" panose="020B0604020202020204" pitchFamily="34" charset="0"/>
              <a:buChar char="•"/>
            </a:pPr>
            <a:r>
              <a:rPr lang="de-DE" sz="2800" dirty="0"/>
              <a:t>Auf Text nur logische Operatoren, und manchmal passiert Unerwartetes</a:t>
            </a:r>
          </a:p>
        </p:txBody>
      </p:sp>
    </p:spTree>
    <p:extLst>
      <p:ext uri="{BB962C8B-B14F-4D97-AF65-F5344CB8AC3E}">
        <p14:creationId xmlns:p14="http://schemas.microsoft.com/office/powerpoint/2010/main" val="3971068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Variablen</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p:txBody>
          <a:bodyPr>
            <a:normAutofit/>
          </a:bodyPr>
          <a:lstStyle/>
          <a:p>
            <a:pPr lvl="1">
              <a:lnSpc>
                <a:spcPct val="200000"/>
              </a:lnSpc>
              <a:buFont typeface="Arial" panose="020B0604020202020204" pitchFamily="34" charset="0"/>
              <a:buChar char="•"/>
            </a:pPr>
            <a:r>
              <a:rPr lang="de-DE" sz="2800" dirty="0"/>
              <a:t>Speichern R Objekte wie Werte, Vektoren etc. aber auch Funktionen</a:t>
            </a:r>
            <a:endParaRPr lang="de-DE" sz="1800" dirty="0"/>
          </a:p>
          <a:p>
            <a:pPr lvl="1">
              <a:lnSpc>
                <a:spcPct val="200000"/>
              </a:lnSpc>
              <a:buFont typeface="Arial" panose="020B0604020202020204" pitchFamily="34" charset="0"/>
              <a:buChar char="•"/>
            </a:pPr>
            <a:r>
              <a:rPr lang="de-DE" sz="2800" dirty="0"/>
              <a:t>Erst als Variable ist ein R Objekt vom Rechner auffindbar</a:t>
            </a:r>
          </a:p>
          <a:p>
            <a:pPr lvl="1">
              <a:lnSpc>
                <a:spcPct val="200000"/>
              </a:lnSpc>
              <a:buFont typeface="Arial" panose="020B0604020202020204" pitchFamily="34" charset="0"/>
              <a:buChar char="•"/>
            </a:pPr>
            <a:r>
              <a:rPr lang="de-DE" sz="2800" dirty="0"/>
              <a:t>Lassen sich wieder überschreiben</a:t>
            </a:r>
          </a:p>
        </p:txBody>
      </p:sp>
    </p:spTree>
    <p:extLst>
      <p:ext uri="{BB962C8B-B14F-4D97-AF65-F5344CB8AC3E}">
        <p14:creationId xmlns:p14="http://schemas.microsoft.com/office/powerpoint/2010/main" val="2293348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CE7550-881F-4977-9D92-B620BA6CAF5F}"/>
              </a:ext>
            </a:extLst>
          </p:cNvPr>
          <p:cNvSpPr>
            <a:spLocks noGrp="1"/>
          </p:cNvSpPr>
          <p:nvPr>
            <p:ph type="title"/>
          </p:nvPr>
        </p:nvSpPr>
        <p:spPr>
          <a:xfrm>
            <a:off x="604137" y="1201397"/>
            <a:ext cx="10636677" cy="1013658"/>
          </a:xfrm>
        </p:spPr>
        <p:txBody>
          <a:bodyPr>
            <a:normAutofit/>
          </a:bodyPr>
          <a:lstStyle/>
          <a:p>
            <a:r>
              <a:rPr lang="de-DE" b="1" dirty="0"/>
              <a:t>Übung: Operatoren und Variablen</a:t>
            </a:r>
          </a:p>
        </p:txBody>
      </p:sp>
    </p:spTree>
    <p:extLst>
      <p:ext uri="{BB962C8B-B14F-4D97-AF65-F5344CB8AC3E}">
        <p14:creationId xmlns:p14="http://schemas.microsoft.com/office/powerpoint/2010/main" val="12081131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Vektoren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2130136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Vektoren</a:t>
            </a:r>
          </a:p>
        </p:txBody>
      </p:sp>
    </p:spTree>
    <p:extLst>
      <p:ext uri="{BB962C8B-B14F-4D97-AF65-F5344CB8AC3E}">
        <p14:creationId xmlns:p14="http://schemas.microsoft.com/office/powerpoint/2010/main" val="3386907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D52D2-BC55-4FD1-AC05-C91977EDF9C4}"/>
              </a:ext>
            </a:extLst>
          </p:cNvPr>
          <p:cNvSpPr>
            <a:spLocks noGrp="1"/>
          </p:cNvSpPr>
          <p:nvPr>
            <p:ph type="title"/>
          </p:nvPr>
        </p:nvSpPr>
        <p:spPr>
          <a:xfrm>
            <a:off x="625326" y="398720"/>
            <a:ext cx="10772775" cy="1179536"/>
          </a:xfrm>
        </p:spPr>
        <p:txBody>
          <a:bodyPr/>
          <a:lstStyle/>
          <a:p>
            <a:r>
              <a:rPr lang="de-DE" b="1" dirty="0"/>
              <a:t>Vektoren</a:t>
            </a:r>
          </a:p>
        </p:txBody>
      </p:sp>
      <p:sp>
        <p:nvSpPr>
          <p:cNvPr id="3" name="Inhaltsplatzhalter 2">
            <a:extLst>
              <a:ext uri="{FF2B5EF4-FFF2-40B4-BE49-F238E27FC236}">
                <a16:creationId xmlns:a16="http://schemas.microsoft.com/office/drawing/2014/main" id="{006FC6F6-D4B2-44EA-8BD7-20724DCA6B3C}"/>
              </a:ext>
            </a:extLst>
          </p:cNvPr>
          <p:cNvSpPr>
            <a:spLocks noGrp="1"/>
          </p:cNvSpPr>
          <p:nvPr>
            <p:ph idx="1"/>
          </p:nvPr>
        </p:nvSpPr>
        <p:spPr>
          <a:xfrm>
            <a:off x="838200" y="1338364"/>
            <a:ext cx="10515600" cy="4683089"/>
          </a:xfrm>
        </p:spPr>
        <p:txBody>
          <a:bodyPr>
            <a:normAutofit lnSpcReduction="10000"/>
          </a:bodyPr>
          <a:lstStyle/>
          <a:p>
            <a:pPr lvl="1">
              <a:lnSpc>
                <a:spcPct val="150000"/>
              </a:lnSpc>
              <a:buFont typeface="Arial" panose="020B0604020202020204" pitchFamily="34" charset="0"/>
              <a:buChar char="•"/>
            </a:pPr>
            <a:r>
              <a:rPr lang="de-DE" sz="2800" dirty="0"/>
              <a:t>Verbinden mehrere Werte mit c( ) (</a:t>
            </a:r>
            <a:r>
              <a:rPr lang="de-DE" sz="2800" dirty="0" err="1"/>
              <a:t>combine</a:t>
            </a:r>
            <a:r>
              <a:rPr lang="de-DE" sz="2800" dirty="0"/>
              <a:t>)</a:t>
            </a:r>
          </a:p>
          <a:p>
            <a:pPr lvl="1">
              <a:lnSpc>
                <a:spcPct val="100000"/>
              </a:lnSpc>
              <a:buFont typeface="Arial" panose="020B0604020202020204" pitchFamily="34" charset="0"/>
              <a:buChar char="•"/>
            </a:pPr>
            <a:r>
              <a:rPr lang="de-DE" sz="2800" dirty="0"/>
              <a:t>Operatoren werden auf alle Elemente eines Vektors ausgeführt</a:t>
            </a:r>
          </a:p>
          <a:p>
            <a:pPr marL="457200" lvl="1" indent="0">
              <a:lnSpc>
                <a:spcPct val="100000"/>
              </a:lnSpc>
              <a:buNone/>
            </a:pPr>
            <a:r>
              <a:rPr lang="de-DE" sz="2800" dirty="0"/>
              <a:t>-&gt; ermöglicht effizientes Editieren und Durchführen von Abfragen</a:t>
            </a:r>
          </a:p>
          <a:p>
            <a:pPr lvl="1">
              <a:lnSpc>
                <a:spcPct val="150000"/>
              </a:lnSpc>
              <a:buFont typeface="Arial" panose="020B0604020202020204" pitchFamily="34" charset="0"/>
              <a:buChar char="•"/>
            </a:pPr>
            <a:r>
              <a:rPr lang="de-DE" sz="2800" dirty="0"/>
              <a:t>An bestehende Vektoren lassen sich weitere Elemente anhängen</a:t>
            </a:r>
          </a:p>
          <a:p>
            <a:pPr lvl="1">
              <a:lnSpc>
                <a:spcPct val="100000"/>
              </a:lnSpc>
              <a:buFont typeface="Arial" panose="020B0604020202020204" pitchFamily="34" charset="0"/>
              <a:buChar char="•"/>
            </a:pPr>
            <a:r>
              <a:rPr lang="de-DE" sz="2800" dirty="0"/>
              <a:t>Indizierung mit [ ] ermöglicht Elemente aus Vektor abzufragen und zu verändern</a:t>
            </a:r>
          </a:p>
          <a:p>
            <a:pPr lvl="1">
              <a:lnSpc>
                <a:spcPct val="100000"/>
              </a:lnSpc>
              <a:buFont typeface="Arial" panose="020B0604020202020204" pitchFamily="34" charset="0"/>
              <a:buChar char="•"/>
            </a:pPr>
            <a:r>
              <a:rPr lang="de-DE" sz="2800" dirty="0"/>
              <a:t>Indizierung mit negativem Index wählt alle Elemente außer dem Index aus</a:t>
            </a:r>
          </a:p>
          <a:p>
            <a:pPr marL="457200" lvl="1" indent="0">
              <a:lnSpc>
                <a:spcPct val="100000"/>
              </a:lnSpc>
              <a:buNone/>
            </a:pPr>
            <a:r>
              <a:rPr lang="de-DE" sz="2800" dirty="0"/>
              <a:t>-&gt; ermöglicht das Löschen von Elementen</a:t>
            </a:r>
          </a:p>
          <a:p>
            <a:endParaRPr lang="de-DE" dirty="0"/>
          </a:p>
        </p:txBody>
      </p:sp>
    </p:spTree>
    <p:extLst>
      <p:ext uri="{BB962C8B-B14F-4D97-AF65-F5344CB8AC3E}">
        <p14:creationId xmlns:p14="http://schemas.microsoft.com/office/powerpoint/2010/main" val="336197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8CD711-149C-4D10-B9CF-E4A5E9695EEC}"/>
              </a:ext>
            </a:extLst>
          </p:cNvPr>
          <p:cNvSpPr>
            <a:spLocks noGrp="1"/>
          </p:cNvSpPr>
          <p:nvPr>
            <p:ph type="title"/>
          </p:nvPr>
        </p:nvSpPr>
        <p:spPr>
          <a:xfrm>
            <a:off x="638174" y="1204972"/>
            <a:ext cx="10772775" cy="529235"/>
          </a:xfrm>
        </p:spPr>
        <p:txBody>
          <a:bodyPr>
            <a:noAutofit/>
          </a:bodyPr>
          <a:lstStyle/>
          <a:p>
            <a:r>
              <a:rPr lang="de-DE" b="1" dirty="0"/>
              <a:t>Übung: Vektoren</a:t>
            </a:r>
          </a:p>
        </p:txBody>
      </p:sp>
    </p:spTree>
    <p:extLst>
      <p:ext uri="{BB962C8B-B14F-4D97-AF65-F5344CB8AC3E}">
        <p14:creationId xmlns:p14="http://schemas.microsoft.com/office/powerpoint/2010/main" val="354115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Funktionen</a:t>
            </a:r>
          </a:p>
        </p:txBody>
      </p:sp>
    </p:spTree>
    <p:extLst>
      <p:ext uri="{BB962C8B-B14F-4D97-AF65-F5344CB8AC3E}">
        <p14:creationId xmlns:p14="http://schemas.microsoft.com/office/powerpoint/2010/main" val="14472805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150637-28B9-41D3-8696-7FEB4DFA0671}"/>
              </a:ext>
            </a:extLst>
          </p:cNvPr>
          <p:cNvSpPr>
            <a:spLocks noGrp="1"/>
          </p:cNvSpPr>
          <p:nvPr>
            <p:ph type="title"/>
          </p:nvPr>
        </p:nvSpPr>
        <p:spPr/>
        <p:txBody>
          <a:bodyPr/>
          <a:lstStyle/>
          <a:p>
            <a:r>
              <a:rPr lang="de-DE" b="1" dirty="0"/>
              <a:t>Funktionen</a:t>
            </a:r>
          </a:p>
        </p:txBody>
      </p:sp>
      <p:sp>
        <p:nvSpPr>
          <p:cNvPr id="3" name="Inhaltsplatzhalter 2">
            <a:extLst>
              <a:ext uri="{FF2B5EF4-FFF2-40B4-BE49-F238E27FC236}">
                <a16:creationId xmlns:a16="http://schemas.microsoft.com/office/drawing/2014/main" id="{438E3F8C-ED94-4360-876E-DB66036C02A9}"/>
              </a:ext>
            </a:extLst>
          </p:cNvPr>
          <p:cNvSpPr>
            <a:spLocks noGrp="1"/>
          </p:cNvSpPr>
          <p:nvPr>
            <p:ph idx="1"/>
          </p:nvPr>
        </p:nvSpPr>
        <p:spPr>
          <a:xfrm>
            <a:off x="676656" y="2011680"/>
            <a:ext cx="10918185" cy="4109202"/>
          </a:xfrm>
        </p:spPr>
        <p:txBody>
          <a:bodyPr/>
          <a:lstStyle/>
          <a:p>
            <a:pPr lvl="1">
              <a:lnSpc>
                <a:spcPct val="100000"/>
              </a:lnSpc>
              <a:buFont typeface="Arial" panose="020B0604020202020204" pitchFamily="34" charset="0"/>
              <a:buChar char="•"/>
            </a:pPr>
            <a:r>
              <a:rPr lang="de-DE" sz="2800" dirty="0"/>
              <a:t>Gekennzeichnet durch ( )</a:t>
            </a:r>
          </a:p>
          <a:p>
            <a:pPr lvl="1">
              <a:lnSpc>
                <a:spcPct val="100000"/>
              </a:lnSpc>
              <a:buFont typeface="Arial" panose="020B0604020202020204" pitchFamily="34" charset="0"/>
              <a:buChar char="•"/>
            </a:pPr>
            <a:r>
              <a:rPr lang="de-DE" sz="2800" dirty="0"/>
              <a:t>Mit F1 Taste lässt sich die Hilfe Seite der Funktion öffnen</a:t>
            </a:r>
          </a:p>
          <a:p>
            <a:pPr lvl="1">
              <a:lnSpc>
                <a:spcPct val="100000"/>
              </a:lnSpc>
              <a:buFont typeface="Arial" panose="020B0604020202020204" pitchFamily="34" charset="0"/>
              <a:buChar char="•"/>
            </a:pPr>
            <a:r>
              <a:rPr lang="de-DE" sz="2800" dirty="0"/>
              <a:t>Unbekannte Funktionen lassen sich per Hilfe-&gt;Suche finden</a:t>
            </a:r>
          </a:p>
          <a:p>
            <a:pPr lvl="1">
              <a:lnSpc>
                <a:spcPct val="100000"/>
              </a:lnSpc>
              <a:buFont typeface="Arial" panose="020B0604020202020204" pitchFamily="34" charset="0"/>
              <a:buChar char="•"/>
            </a:pPr>
            <a:r>
              <a:rPr lang="de-DE" sz="2800" dirty="0"/>
              <a:t>Viele Funktionen sind in zusätzlichen Paketen enthalten</a:t>
            </a:r>
          </a:p>
          <a:p>
            <a:pPr marL="4572" lvl="1" indent="0">
              <a:lnSpc>
                <a:spcPct val="100000"/>
              </a:lnSpc>
              <a:buNone/>
            </a:pPr>
            <a:r>
              <a:rPr lang="de-DE" sz="2800" dirty="0"/>
              <a:t>	-&gt; Google!</a:t>
            </a:r>
          </a:p>
          <a:p>
            <a:pPr lvl="1">
              <a:lnSpc>
                <a:spcPct val="100000"/>
              </a:lnSpc>
              <a:buFont typeface="Arial" panose="020B0604020202020204" pitchFamily="34" charset="0"/>
              <a:buChar char="•"/>
            </a:pPr>
            <a:r>
              <a:rPr lang="de-DE" sz="2800" dirty="0" err="1"/>
              <a:t>install.packages</a:t>
            </a:r>
            <a:r>
              <a:rPr lang="de-DE" sz="2800" dirty="0"/>
              <a:t>(„Paketname“) installiert das Paket</a:t>
            </a:r>
          </a:p>
          <a:p>
            <a:pPr lvl="1">
              <a:lnSpc>
                <a:spcPct val="100000"/>
              </a:lnSpc>
              <a:buFont typeface="Arial" panose="020B0604020202020204" pitchFamily="34" charset="0"/>
              <a:buChar char="•"/>
            </a:pPr>
            <a:r>
              <a:rPr lang="de-DE" sz="2800" dirty="0" err="1"/>
              <a:t>library</a:t>
            </a:r>
            <a:r>
              <a:rPr lang="de-DE" sz="2800" dirty="0"/>
              <a:t>(Paketname) oder Paketname:: machen Funktionen zugreifbar</a:t>
            </a:r>
          </a:p>
          <a:p>
            <a:endParaRPr lang="de-DE" dirty="0"/>
          </a:p>
        </p:txBody>
      </p:sp>
    </p:spTree>
    <p:extLst>
      <p:ext uri="{BB962C8B-B14F-4D97-AF65-F5344CB8AC3E}">
        <p14:creationId xmlns:p14="http://schemas.microsoft.com/office/powerpoint/2010/main" val="377927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31E842-E32F-4EDF-A139-97BB755396BB}"/>
              </a:ext>
            </a:extLst>
          </p:cNvPr>
          <p:cNvSpPr>
            <a:spLocks noGrp="1"/>
          </p:cNvSpPr>
          <p:nvPr>
            <p:ph type="title"/>
          </p:nvPr>
        </p:nvSpPr>
        <p:spPr>
          <a:xfrm>
            <a:off x="657224" y="499533"/>
            <a:ext cx="10772775" cy="1316826"/>
          </a:xfrm>
        </p:spPr>
        <p:txBody>
          <a:bodyPr/>
          <a:lstStyle/>
          <a:p>
            <a:r>
              <a:rPr lang="de-DE" b="1" dirty="0"/>
              <a:t>Übung: Funktionen</a:t>
            </a:r>
          </a:p>
        </p:txBody>
      </p:sp>
    </p:spTree>
    <p:extLst>
      <p:ext uri="{BB962C8B-B14F-4D97-AF65-F5344CB8AC3E}">
        <p14:creationId xmlns:p14="http://schemas.microsoft.com/office/powerpoint/2010/main" val="4017221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Matrizen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963382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Matrizen</a:t>
            </a:r>
          </a:p>
        </p:txBody>
      </p:sp>
    </p:spTree>
    <p:extLst>
      <p:ext uri="{BB962C8B-B14F-4D97-AF65-F5344CB8AC3E}">
        <p14:creationId xmlns:p14="http://schemas.microsoft.com/office/powerpoint/2010/main" val="40150051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27F97-6EC1-4A37-B082-BDDE5E5BAF69}"/>
              </a:ext>
            </a:extLst>
          </p:cNvPr>
          <p:cNvSpPr>
            <a:spLocks noGrp="1"/>
          </p:cNvSpPr>
          <p:nvPr>
            <p:ph type="title"/>
          </p:nvPr>
        </p:nvSpPr>
        <p:spPr/>
        <p:txBody>
          <a:bodyPr/>
          <a:lstStyle/>
          <a:p>
            <a:r>
              <a:rPr lang="de-DE" b="1" dirty="0"/>
              <a:t>Matrizen</a:t>
            </a:r>
          </a:p>
        </p:txBody>
      </p:sp>
      <p:sp>
        <p:nvSpPr>
          <p:cNvPr id="3" name="Inhaltsplatzhalter 2">
            <a:extLst>
              <a:ext uri="{FF2B5EF4-FFF2-40B4-BE49-F238E27FC236}">
                <a16:creationId xmlns:a16="http://schemas.microsoft.com/office/drawing/2014/main" id="{7150AA3E-74DA-400E-A9AE-32DE27C78691}"/>
              </a:ext>
            </a:extLst>
          </p:cNvPr>
          <p:cNvSpPr>
            <a:spLocks noGrp="1"/>
          </p:cNvSpPr>
          <p:nvPr>
            <p:ph idx="1"/>
          </p:nvPr>
        </p:nvSpPr>
        <p:spPr/>
        <p:txBody>
          <a:bodyPr>
            <a:normAutofit/>
          </a:bodyPr>
          <a:lstStyle/>
          <a:p>
            <a:pPr lvl="1">
              <a:buFont typeface="Arial" panose="020B0604020202020204" pitchFamily="34" charset="0"/>
              <a:buChar char="•"/>
            </a:pPr>
            <a:r>
              <a:rPr lang="de-DE" sz="2800" dirty="0"/>
              <a:t>Matrizen sind 2 dimensionale Vektoren</a:t>
            </a:r>
          </a:p>
          <a:p>
            <a:pPr marL="4572" lvl="1" indent="0">
              <a:buNone/>
            </a:pPr>
            <a:endParaRPr lang="de-DE" sz="2800" dirty="0"/>
          </a:p>
          <a:p>
            <a:pPr lvl="1">
              <a:buFont typeface="Arial" panose="020B0604020202020204" pitchFamily="34" charset="0"/>
              <a:buChar char="•"/>
            </a:pPr>
            <a:r>
              <a:rPr lang="de-DE" sz="2800" dirty="0"/>
              <a:t>Bei Indizierung mit [ , ] gibt es Zeile </a:t>
            </a:r>
            <a:r>
              <a:rPr lang="de-DE" sz="2800" b="1" dirty="0"/>
              <a:t>und</a:t>
            </a:r>
            <a:r>
              <a:rPr lang="de-DE" sz="2800" dirty="0"/>
              <a:t> Spalte angegeben werden</a:t>
            </a:r>
          </a:p>
          <a:p>
            <a:pPr marL="4572" lvl="1" indent="0">
              <a:buNone/>
            </a:pPr>
            <a:r>
              <a:rPr lang="de-DE" sz="2800" dirty="0"/>
              <a:t>	Erste Zahl: Zeile</a:t>
            </a:r>
          </a:p>
          <a:p>
            <a:pPr marL="0" indent="0">
              <a:buNone/>
            </a:pPr>
            <a:r>
              <a:rPr lang="de-DE" sz="2800" dirty="0"/>
              <a:t>	Zweite Zahl: Spalte</a:t>
            </a:r>
          </a:p>
          <a:p>
            <a:pPr marL="0" indent="0">
              <a:buNone/>
            </a:pPr>
            <a:r>
              <a:rPr lang="de-DE" sz="2800" dirty="0"/>
              <a:t>	Bsp.: Matrix[Zeile, Spalte]</a:t>
            </a:r>
          </a:p>
          <a:p>
            <a:pPr marL="0" indent="0">
              <a:buNone/>
            </a:pPr>
            <a:r>
              <a:rPr lang="de-DE" sz="2800" dirty="0"/>
              <a:t>-&gt; Keine Angabe von Zeilen- oder Spaltenindex bedeutet gesamte 	Zeile/Spalte</a:t>
            </a:r>
          </a:p>
        </p:txBody>
      </p:sp>
    </p:spTree>
    <p:extLst>
      <p:ext uri="{BB962C8B-B14F-4D97-AF65-F5344CB8AC3E}">
        <p14:creationId xmlns:p14="http://schemas.microsoft.com/office/powerpoint/2010/main" val="28978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835445-EAC6-4597-B652-BE08B7478B0E}"/>
              </a:ext>
            </a:extLst>
          </p:cNvPr>
          <p:cNvSpPr>
            <a:spLocks noGrp="1"/>
          </p:cNvSpPr>
          <p:nvPr>
            <p:ph type="title"/>
          </p:nvPr>
        </p:nvSpPr>
        <p:spPr>
          <a:xfrm>
            <a:off x="641458" y="917319"/>
            <a:ext cx="10772775" cy="1658198"/>
          </a:xfrm>
        </p:spPr>
        <p:txBody>
          <a:bodyPr/>
          <a:lstStyle/>
          <a:p>
            <a:r>
              <a:rPr lang="de-DE" b="1" dirty="0"/>
              <a:t>Übung: Matrizen</a:t>
            </a:r>
          </a:p>
        </p:txBody>
      </p:sp>
    </p:spTree>
    <p:extLst>
      <p:ext uri="{BB962C8B-B14F-4D97-AF65-F5344CB8AC3E}">
        <p14:creationId xmlns:p14="http://schemas.microsoft.com/office/powerpoint/2010/main" val="34805883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Dataframes</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5312487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Dataframes</a:t>
            </a:r>
          </a:p>
        </p:txBody>
      </p:sp>
    </p:spTree>
    <p:extLst>
      <p:ext uri="{BB962C8B-B14F-4D97-AF65-F5344CB8AC3E}">
        <p14:creationId xmlns:p14="http://schemas.microsoft.com/office/powerpoint/2010/main" val="2427056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03FD5D-0C57-4C4A-9C16-0AFCA3AC19A3}"/>
              </a:ext>
            </a:extLst>
          </p:cNvPr>
          <p:cNvSpPr>
            <a:spLocks noGrp="1"/>
          </p:cNvSpPr>
          <p:nvPr>
            <p:ph type="title"/>
          </p:nvPr>
        </p:nvSpPr>
        <p:spPr>
          <a:xfrm>
            <a:off x="657224" y="499533"/>
            <a:ext cx="10772775" cy="999658"/>
          </a:xfrm>
        </p:spPr>
        <p:txBody>
          <a:bodyPr/>
          <a:lstStyle/>
          <a:p>
            <a:r>
              <a:rPr lang="de-DE" b="1" dirty="0"/>
              <a:t>Dataframes</a:t>
            </a:r>
          </a:p>
        </p:txBody>
      </p:sp>
      <p:sp>
        <p:nvSpPr>
          <p:cNvPr id="3" name="Inhaltsplatzhalter 2">
            <a:extLst>
              <a:ext uri="{FF2B5EF4-FFF2-40B4-BE49-F238E27FC236}">
                <a16:creationId xmlns:a16="http://schemas.microsoft.com/office/drawing/2014/main" id="{04ACF738-AB74-4918-8C3B-C479D336D5DA}"/>
              </a:ext>
            </a:extLst>
          </p:cNvPr>
          <p:cNvSpPr>
            <a:spLocks noGrp="1"/>
          </p:cNvSpPr>
          <p:nvPr>
            <p:ph idx="1"/>
          </p:nvPr>
        </p:nvSpPr>
        <p:spPr>
          <a:xfrm>
            <a:off x="676656" y="1345019"/>
            <a:ext cx="10753725" cy="5013447"/>
          </a:xfrm>
        </p:spPr>
        <p:txBody>
          <a:bodyPr>
            <a:normAutofit fontScale="92500"/>
          </a:bodyPr>
          <a:lstStyle/>
          <a:p>
            <a:pPr lvl="1">
              <a:lnSpc>
                <a:spcPct val="150000"/>
              </a:lnSpc>
              <a:buFont typeface="Arial" panose="020B0604020202020204" pitchFamily="34" charset="0"/>
              <a:buChar char="•"/>
            </a:pPr>
            <a:r>
              <a:rPr lang="de-DE" sz="2800" dirty="0"/>
              <a:t>Das Kernstück von R</a:t>
            </a:r>
          </a:p>
          <a:p>
            <a:pPr lvl="1">
              <a:lnSpc>
                <a:spcPct val="150000"/>
              </a:lnSpc>
              <a:buFont typeface="Arial" panose="020B0604020202020204" pitchFamily="34" charset="0"/>
              <a:buChar char="•"/>
            </a:pPr>
            <a:r>
              <a:rPr lang="de-DE" sz="2800" dirty="0"/>
              <a:t>Analog der Excel Tabelle</a:t>
            </a:r>
          </a:p>
          <a:p>
            <a:pPr lvl="1">
              <a:lnSpc>
                <a:spcPct val="150000"/>
              </a:lnSpc>
              <a:buFont typeface="Arial" panose="020B0604020202020204" pitchFamily="34" charset="0"/>
              <a:buChar char="•"/>
            </a:pPr>
            <a:r>
              <a:rPr lang="de-DE" sz="2800" dirty="0"/>
              <a:t>Erweiterung der Matrix</a:t>
            </a:r>
          </a:p>
          <a:p>
            <a:pPr lvl="1">
              <a:lnSpc>
                <a:spcPct val="150000"/>
              </a:lnSpc>
              <a:buFont typeface="Arial" panose="020B0604020202020204" pitchFamily="34" charset="0"/>
              <a:buChar char="•"/>
            </a:pPr>
            <a:r>
              <a:rPr lang="de-DE" sz="2800" dirty="0"/>
              <a:t>Spalten können aus unterschiedlichen Datentypen bestehen</a:t>
            </a:r>
          </a:p>
          <a:p>
            <a:pPr lvl="1">
              <a:lnSpc>
                <a:spcPct val="150000"/>
              </a:lnSpc>
              <a:buFont typeface="Arial" panose="020B0604020202020204" pitchFamily="34" charset="0"/>
              <a:buChar char="•"/>
            </a:pPr>
            <a:r>
              <a:rPr lang="de-DE" sz="2800" dirty="0"/>
              <a:t>Spalten haben Namen!</a:t>
            </a:r>
          </a:p>
          <a:p>
            <a:pPr lvl="1">
              <a:lnSpc>
                <a:spcPct val="150000"/>
              </a:lnSpc>
              <a:buFont typeface="Arial" panose="020B0604020202020204" pitchFamily="34" charset="0"/>
              <a:buChar char="•"/>
            </a:pPr>
            <a:r>
              <a:rPr lang="de-DE" sz="2800" dirty="0"/>
              <a:t>Auswahl einzelner Spalten durch $ und Spaltennamen</a:t>
            </a:r>
          </a:p>
          <a:p>
            <a:pPr lvl="1">
              <a:lnSpc>
                <a:spcPct val="150000"/>
              </a:lnSpc>
              <a:buFont typeface="Arial" panose="020B0604020202020204" pitchFamily="34" charset="0"/>
              <a:buChar char="•"/>
            </a:pPr>
            <a:r>
              <a:rPr lang="de-DE" sz="2800" dirty="0"/>
              <a:t>Einlesen von Dataframes über ‚Import Dataset‘ oder </a:t>
            </a:r>
            <a:r>
              <a:rPr lang="de-DE" sz="2800" dirty="0" err="1"/>
              <a:t>read.table</a:t>
            </a:r>
            <a:r>
              <a:rPr lang="de-DE" sz="2800" dirty="0"/>
              <a:t>(), read.csv()</a:t>
            </a:r>
          </a:p>
        </p:txBody>
      </p:sp>
    </p:spTree>
    <p:extLst>
      <p:ext uri="{BB962C8B-B14F-4D97-AF65-F5344CB8AC3E}">
        <p14:creationId xmlns:p14="http://schemas.microsoft.com/office/powerpoint/2010/main" val="3420363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52B50-311C-4FC9-9B3E-E7F32C2E1150}"/>
              </a:ext>
            </a:extLst>
          </p:cNvPr>
          <p:cNvSpPr>
            <a:spLocks noGrp="1"/>
          </p:cNvSpPr>
          <p:nvPr>
            <p:ph type="title"/>
          </p:nvPr>
        </p:nvSpPr>
        <p:spPr>
          <a:xfrm>
            <a:off x="709612" y="884788"/>
            <a:ext cx="10772775" cy="1558868"/>
          </a:xfrm>
        </p:spPr>
        <p:txBody>
          <a:bodyPr>
            <a:normAutofit/>
          </a:bodyPr>
          <a:lstStyle/>
          <a:p>
            <a:r>
              <a:rPr lang="de-DE" b="1" dirty="0"/>
              <a:t>Übung: Dataframes</a:t>
            </a:r>
          </a:p>
        </p:txBody>
      </p:sp>
    </p:spTree>
    <p:extLst>
      <p:ext uri="{BB962C8B-B14F-4D97-AF65-F5344CB8AC3E}">
        <p14:creationId xmlns:p14="http://schemas.microsoft.com/office/powerpoint/2010/main" val="4441584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82104" y="2414895"/>
            <a:ext cx="10772775" cy="1658198"/>
          </a:xfrm>
        </p:spPr>
        <p:txBody>
          <a:bodyPr>
            <a:normAutofit fontScale="90000"/>
          </a:bodyPr>
          <a:lstStyle/>
          <a:p>
            <a:r>
              <a:rPr lang="de-DE" b="1" dirty="0">
                <a:solidFill>
                  <a:schemeClr val="bg1"/>
                </a:solidFill>
              </a:rPr>
              <a:t>Grafiken</a:t>
            </a:r>
            <a:br>
              <a:rPr lang="de-DE" b="1" dirty="0">
                <a:solidFill>
                  <a:schemeClr val="bg1"/>
                </a:solidFill>
              </a:rPr>
            </a:br>
            <a:br>
              <a:rPr lang="de-DE" b="1" dirty="0">
                <a:solidFill>
                  <a:schemeClr val="bg1"/>
                </a:solidFill>
              </a:rPr>
            </a:br>
            <a:r>
              <a:rPr lang="de-DE" sz="4000" b="1" dirty="0">
                <a:solidFill>
                  <a:schemeClr val="bg1"/>
                </a:solidFill>
              </a:rPr>
              <a:t>Histogramm, Dichtediagramm, Boxplot, Balkendiagramm und Scatterplot</a:t>
            </a:r>
            <a:endParaRPr lang="de-DE" b="1" dirty="0">
              <a:solidFill>
                <a:schemeClr val="bg1"/>
              </a:solidFill>
            </a:endParaRPr>
          </a:p>
        </p:txBody>
      </p:sp>
    </p:spTree>
    <p:extLst>
      <p:ext uri="{BB962C8B-B14F-4D97-AF65-F5344CB8AC3E}">
        <p14:creationId xmlns:p14="http://schemas.microsoft.com/office/powerpoint/2010/main" val="239359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BFE138C-5CE9-4502-A16E-6DD5394862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5354" y="571252"/>
            <a:ext cx="7620660" cy="5715495"/>
          </a:xfrm>
          <a:prstGeom prst="rect">
            <a:avLst/>
          </a:prstGeom>
        </p:spPr>
      </p:pic>
      <p:sp>
        <p:nvSpPr>
          <p:cNvPr id="2" name="Titel 1">
            <a:extLst>
              <a:ext uri="{FF2B5EF4-FFF2-40B4-BE49-F238E27FC236}">
                <a16:creationId xmlns:a16="http://schemas.microsoft.com/office/drawing/2014/main" id="{1649BC34-58C5-47B4-9152-7E10A4241BC6}"/>
              </a:ext>
            </a:extLst>
          </p:cNvPr>
          <p:cNvSpPr>
            <a:spLocks noGrp="1"/>
          </p:cNvSpPr>
          <p:nvPr>
            <p:ph type="title"/>
          </p:nvPr>
        </p:nvSpPr>
        <p:spPr>
          <a:xfrm>
            <a:off x="0" y="0"/>
            <a:ext cx="10772775" cy="1658198"/>
          </a:xfrm>
        </p:spPr>
        <p:txBody>
          <a:bodyPr/>
          <a:lstStyle/>
          <a:p>
            <a:r>
              <a:rPr lang="de-DE" dirty="0"/>
              <a:t>	</a:t>
            </a:r>
            <a:r>
              <a:rPr lang="de-DE" sz="4800" b="1" dirty="0">
                <a:solidFill>
                  <a:srgbClr val="4F81BD"/>
                </a:solidFill>
              </a:rPr>
              <a:t>Histogramm</a:t>
            </a:r>
            <a:endParaRPr lang="de-DE" b="1" dirty="0">
              <a:solidFill>
                <a:srgbClr val="4F81BD"/>
              </a:solidFill>
            </a:endParaRPr>
          </a:p>
        </p:txBody>
      </p:sp>
    </p:spTree>
    <p:extLst>
      <p:ext uri="{BB962C8B-B14F-4D97-AF65-F5344CB8AC3E}">
        <p14:creationId xmlns:p14="http://schemas.microsoft.com/office/powerpoint/2010/main" val="14614806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E930B5-825A-4182-B473-4F834C777D77}"/>
              </a:ext>
            </a:extLst>
          </p:cNvPr>
          <p:cNvSpPr>
            <a:spLocks noGrp="1"/>
          </p:cNvSpPr>
          <p:nvPr>
            <p:ph type="title"/>
          </p:nvPr>
        </p:nvSpPr>
        <p:spPr>
          <a:xfrm>
            <a:off x="610309" y="935284"/>
            <a:ext cx="10772775" cy="1030680"/>
          </a:xfrm>
        </p:spPr>
        <p:txBody>
          <a:bodyPr/>
          <a:lstStyle/>
          <a:p>
            <a:r>
              <a:rPr lang="de-DE" b="1" dirty="0"/>
              <a:t>Übung Histogramm</a:t>
            </a:r>
          </a:p>
        </p:txBody>
      </p:sp>
    </p:spTree>
    <p:extLst>
      <p:ext uri="{BB962C8B-B14F-4D97-AF65-F5344CB8AC3E}">
        <p14:creationId xmlns:p14="http://schemas.microsoft.com/office/powerpoint/2010/main" val="437693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64C29E4C-DF96-45CB-AC70-3A99245DF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4428" y="1028452"/>
            <a:ext cx="7620660" cy="5715495"/>
          </a:xfrm>
          <a:prstGeom prst="rect">
            <a:avLst/>
          </a:prstGeom>
        </p:spPr>
      </p:pic>
      <p:sp>
        <p:nvSpPr>
          <p:cNvPr id="2" name="Titel 1">
            <a:extLst>
              <a:ext uri="{FF2B5EF4-FFF2-40B4-BE49-F238E27FC236}">
                <a16:creationId xmlns:a16="http://schemas.microsoft.com/office/drawing/2014/main" id="{892C11D6-9B8E-4848-8D84-ACD9F14EC6D1}"/>
              </a:ext>
            </a:extLst>
          </p:cNvPr>
          <p:cNvSpPr>
            <a:spLocks noGrp="1"/>
          </p:cNvSpPr>
          <p:nvPr>
            <p:ph type="title"/>
          </p:nvPr>
        </p:nvSpPr>
        <p:spPr>
          <a:xfrm>
            <a:off x="585035" y="274944"/>
            <a:ext cx="10772775" cy="944256"/>
          </a:xfrm>
        </p:spPr>
        <p:txBody>
          <a:bodyPr>
            <a:normAutofit/>
          </a:bodyPr>
          <a:lstStyle/>
          <a:p>
            <a:r>
              <a:rPr lang="de-DE" sz="4800" b="1" dirty="0"/>
              <a:t>Dichtediagramm</a:t>
            </a:r>
          </a:p>
        </p:txBody>
      </p:sp>
    </p:spTree>
    <p:extLst>
      <p:ext uri="{BB962C8B-B14F-4D97-AF65-F5344CB8AC3E}">
        <p14:creationId xmlns:p14="http://schemas.microsoft.com/office/powerpoint/2010/main" val="9953682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DD5EAD-7FF6-4D46-A636-A2300BFF8604}"/>
              </a:ext>
            </a:extLst>
          </p:cNvPr>
          <p:cNvSpPr>
            <a:spLocks noGrp="1"/>
          </p:cNvSpPr>
          <p:nvPr>
            <p:ph type="title"/>
          </p:nvPr>
        </p:nvSpPr>
        <p:spPr>
          <a:xfrm>
            <a:off x="633576" y="1390284"/>
            <a:ext cx="10772775" cy="962444"/>
          </a:xfrm>
        </p:spPr>
        <p:txBody>
          <a:bodyPr/>
          <a:lstStyle/>
          <a:p>
            <a:r>
              <a:rPr lang="de-DE" b="1" dirty="0"/>
              <a:t>Übung Dichtediagramm</a:t>
            </a:r>
          </a:p>
        </p:txBody>
      </p:sp>
    </p:spTree>
    <p:extLst>
      <p:ext uri="{BB962C8B-B14F-4D97-AF65-F5344CB8AC3E}">
        <p14:creationId xmlns:p14="http://schemas.microsoft.com/office/powerpoint/2010/main" val="6294773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0AD64A4A-5C90-4930-8255-E531172402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571252"/>
            <a:ext cx="7620660" cy="5715495"/>
          </a:xfrm>
          <a:prstGeom prst="rect">
            <a:avLst/>
          </a:prstGeom>
        </p:spPr>
      </p:pic>
      <p:sp>
        <p:nvSpPr>
          <p:cNvPr id="2" name="Titel 1">
            <a:extLst>
              <a:ext uri="{FF2B5EF4-FFF2-40B4-BE49-F238E27FC236}">
                <a16:creationId xmlns:a16="http://schemas.microsoft.com/office/drawing/2014/main" id="{D70E82E2-0BEF-4CAB-823E-FB1BBD77F4D9}"/>
              </a:ext>
            </a:extLst>
          </p:cNvPr>
          <p:cNvSpPr>
            <a:spLocks noGrp="1"/>
          </p:cNvSpPr>
          <p:nvPr>
            <p:ph type="title"/>
          </p:nvPr>
        </p:nvSpPr>
        <p:spPr>
          <a:xfrm>
            <a:off x="657224" y="499533"/>
            <a:ext cx="10772775" cy="982426"/>
          </a:xfrm>
        </p:spPr>
        <p:txBody>
          <a:bodyPr>
            <a:normAutofit/>
          </a:bodyPr>
          <a:lstStyle/>
          <a:p>
            <a:r>
              <a:rPr lang="de-DE" sz="4800" b="1" dirty="0"/>
              <a:t>Boxplot</a:t>
            </a:r>
          </a:p>
        </p:txBody>
      </p:sp>
    </p:spTree>
    <p:extLst>
      <p:ext uri="{BB962C8B-B14F-4D97-AF65-F5344CB8AC3E}">
        <p14:creationId xmlns:p14="http://schemas.microsoft.com/office/powerpoint/2010/main" val="34560398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F125F-4F09-4130-9999-82212092E56A}"/>
              </a:ext>
            </a:extLst>
          </p:cNvPr>
          <p:cNvSpPr>
            <a:spLocks noGrp="1"/>
          </p:cNvSpPr>
          <p:nvPr>
            <p:ph type="title"/>
          </p:nvPr>
        </p:nvSpPr>
        <p:spPr>
          <a:xfrm>
            <a:off x="709612" y="1138036"/>
            <a:ext cx="10772775" cy="978393"/>
          </a:xfrm>
        </p:spPr>
        <p:txBody>
          <a:bodyPr/>
          <a:lstStyle/>
          <a:p>
            <a:r>
              <a:rPr lang="de-DE" b="1" dirty="0"/>
              <a:t>Übung Boxplot</a:t>
            </a:r>
          </a:p>
        </p:txBody>
      </p:sp>
    </p:spTree>
    <p:extLst>
      <p:ext uri="{BB962C8B-B14F-4D97-AF65-F5344CB8AC3E}">
        <p14:creationId xmlns:p14="http://schemas.microsoft.com/office/powerpoint/2010/main" val="4016134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DAE17A41-8A66-4EB1-8EAC-C8426703F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8863" y="571252"/>
            <a:ext cx="7620660" cy="5715495"/>
          </a:xfrm>
          <a:prstGeom prst="rect">
            <a:avLst/>
          </a:prstGeom>
        </p:spPr>
      </p:pic>
      <p:sp>
        <p:nvSpPr>
          <p:cNvPr id="2" name="Titel 1">
            <a:extLst>
              <a:ext uri="{FF2B5EF4-FFF2-40B4-BE49-F238E27FC236}">
                <a16:creationId xmlns:a16="http://schemas.microsoft.com/office/drawing/2014/main" id="{649618F6-334B-4AE1-8F5F-D25BF90BBD6E}"/>
              </a:ext>
            </a:extLst>
          </p:cNvPr>
          <p:cNvSpPr>
            <a:spLocks noGrp="1"/>
          </p:cNvSpPr>
          <p:nvPr>
            <p:ph type="title"/>
          </p:nvPr>
        </p:nvSpPr>
        <p:spPr>
          <a:xfrm>
            <a:off x="389210" y="316522"/>
            <a:ext cx="10772775" cy="887833"/>
          </a:xfrm>
        </p:spPr>
        <p:txBody>
          <a:bodyPr/>
          <a:lstStyle/>
          <a:p>
            <a:r>
              <a:rPr lang="de-DE" sz="4800" b="1" dirty="0"/>
              <a:t>Balkendiagramm</a:t>
            </a:r>
            <a:endParaRPr lang="de-DE" b="1" dirty="0"/>
          </a:p>
        </p:txBody>
      </p:sp>
    </p:spTree>
    <p:extLst>
      <p:ext uri="{BB962C8B-B14F-4D97-AF65-F5344CB8AC3E}">
        <p14:creationId xmlns:p14="http://schemas.microsoft.com/office/powerpoint/2010/main" val="11596210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2BF70-F744-49F7-ABC6-4C7ADFFDAE05}"/>
              </a:ext>
            </a:extLst>
          </p:cNvPr>
          <p:cNvSpPr>
            <a:spLocks noGrp="1"/>
          </p:cNvSpPr>
          <p:nvPr>
            <p:ph type="title"/>
          </p:nvPr>
        </p:nvSpPr>
        <p:spPr>
          <a:xfrm>
            <a:off x="641458" y="893671"/>
            <a:ext cx="10772775" cy="994341"/>
          </a:xfrm>
        </p:spPr>
        <p:txBody>
          <a:bodyPr/>
          <a:lstStyle/>
          <a:p>
            <a:r>
              <a:rPr lang="de-DE" b="1" dirty="0"/>
              <a:t>Übung Balkendiagramm</a:t>
            </a:r>
          </a:p>
        </p:txBody>
      </p:sp>
    </p:spTree>
    <p:extLst>
      <p:ext uri="{BB962C8B-B14F-4D97-AF65-F5344CB8AC3E}">
        <p14:creationId xmlns:p14="http://schemas.microsoft.com/office/powerpoint/2010/main" val="2249418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1174C6F6-39D5-4AA2-9E2E-FDC207031A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5670" y="1014394"/>
            <a:ext cx="7620660" cy="5715495"/>
          </a:xfrm>
          <a:prstGeom prst="rect">
            <a:avLst/>
          </a:prstGeom>
        </p:spPr>
      </p:pic>
      <p:sp>
        <p:nvSpPr>
          <p:cNvPr id="2" name="Titel 1">
            <a:extLst>
              <a:ext uri="{FF2B5EF4-FFF2-40B4-BE49-F238E27FC236}">
                <a16:creationId xmlns:a16="http://schemas.microsoft.com/office/drawing/2014/main" id="{875FB25E-E7A2-47B4-B54E-C22BBAC52828}"/>
              </a:ext>
            </a:extLst>
          </p:cNvPr>
          <p:cNvSpPr>
            <a:spLocks noGrp="1"/>
          </p:cNvSpPr>
          <p:nvPr>
            <p:ph type="title"/>
          </p:nvPr>
        </p:nvSpPr>
        <p:spPr>
          <a:xfrm>
            <a:off x="657224" y="499533"/>
            <a:ext cx="10772775" cy="1029722"/>
          </a:xfrm>
        </p:spPr>
        <p:txBody>
          <a:bodyPr/>
          <a:lstStyle/>
          <a:p>
            <a:r>
              <a:rPr lang="de-DE" sz="4800" b="1" dirty="0"/>
              <a:t>Scatterplot</a:t>
            </a:r>
            <a:endParaRPr lang="de-DE" b="1" dirty="0"/>
          </a:p>
        </p:txBody>
      </p:sp>
    </p:spTree>
    <p:extLst>
      <p:ext uri="{BB962C8B-B14F-4D97-AF65-F5344CB8AC3E}">
        <p14:creationId xmlns:p14="http://schemas.microsoft.com/office/powerpoint/2010/main" val="25386407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A5FD4C-F113-468D-929C-88B36AADE3F9}"/>
              </a:ext>
            </a:extLst>
          </p:cNvPr>
          <p:cNvSpPr>
            <a:spLocks noGrp="1"/>
          </p:cNvSpPr>
          <p:nvPr>
            <p:ph type="title"/>
          </p:nvPr>
        </p:nvSpPr>
        <p:spPr>
          <a:xfrm>
            <a:off x="653008" y="799995"/>
            <a:ext cx="10772775" cy="1105983"/>
          </a:xfrm>
        </p:spPr>
        <p:txBody>
          <a:bodyPr/>
          <a:lstStyle/>
          <a:p>
            <a:r>
              <a:rPr lang="de-DE" b="1" dirty="0"/>
              <a:t>Übung Scatterplot</a:t>
            </a:r>
          </a:p>
        </p:txBody>
      </p:sp>
    </p:spTree>
    <p:extLst>
      <p:ext uri="{BB962C8B-B14F-4D97-AF65-F5344CB8AC3E}">
        <p14:creationId xmlns:p14="http://schemas.microsoft.com/office/powerpoint/2010/main" val="4079362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76316" y="2443832"/>
            <a:ext cx="10772775" cy="1658198"/>
          </a:xfrm>
        </p:spPr>
        <p:txBody>
          <a:bodyPr>
            <a:normAutofit fontScale="90000"/>
          </a:bodyPr>
          <a:lstStyle/>
          <a:p>
            <a:r>
              <a:rPr lang="de-DE" b="1" dirty="0">
                <a:solidFill>
                  <a:schemeClr val="bg1"/>
                </a:solidFill>
              </a:rPr>
              <a:t>Automatisierungen</a:t>
            </a:r>
            <a:br>
              <a:rPr lang="de-DE" b="1" dirty="0">
                <a:solidFill>
                  <a:schemeClr val="bg1"/>
                </a:solidFill>
              </a:rPr>
            </a:br>
            <a:br>
              <a:rPr lang="de-DE" b="1" dirty="0">
                <a:solidFill>
                  <a:schemeClr val="bg1"/>
                </a:solidFill>
              </a:rPr>
            </a:br>
            <a:r>
              <a:rPr lang="de-DE" sz="4000" b="1" dirty="0">
                <a:solidFill>
                  <a:schemeClr val="bg1"/>
                </a:solidFill>
              </a:rPr>
              <a:t>Eigene Funktionen, </a:t>
            </a:r>
            <a:r>
              <a:rPr lang="de-DE" sz="4000" b="1" dirty="0" err="1">
                <a:solidFill>
                  <a:schemeClr val="bg1"/>
                </a:solidFill>
              </a:rPr>
              <a:t>If</a:t>
            </a:r>
            <a:r>
              <a:rPr lang="de-DE" sz="4000" b="1" dirty="0">
                <a:solidFill>
                  <a:schemeClr val="bg1"/>
                </a:solidFill>
              </a:rPr>
              <a:t>-Else Bedingungen und Schleifen</a:t>
            </a:r>
            <a:endParaRPr lang="de-DE" b="1" dirty="0">
              <a:solidFill>
                <a:schemeClr val="bg1"/>
              </a:solidFill>
            </a:endParaRPr>
          </a:p>
        </p:txBody>
      </p:sp>
    </p:spTree>
    <p:extLst>
      <p:ext uri="{BB962C8B-B14F-4D97-AF65-F5344CB8AC3E}">
        <p14:creationId xmlns:p14="http://schemas.microsoft.com/office/powerpoint/2010/main" val="10729073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61D52C-4090-4D68-B29B-9900C5867AB4}"/>
              </a:ext>
            </a:extLst>
          </p:cNvPr>
          <p:cNvSpPr>
            <a:spLocks noGrp="1"/>
          </p:cNvSpPr>
          <p:nvPr>
            <p:ph type="title"/>
          </p:nvPr>
        </p:nvSpPr>
        <p:spPr>
          <a:xfrm>
            <a:off x="657224" y="453234"/>
            <a:ext cx="10772775" cy="1658198"/>
          </a:xfrm>
        </p:spPr>
        <p:txBody>
          <a:bodyPr/>
          <a:lstStyle/>
          <a:p>
            <a:r>
              <a:rPr lang="de-DE" b="1" dirty="0"/>
              <a:t>Eigene Funktionen</a:t>
            </a:r>
          </a:p>
        </p:txBody>
      </p:sp>
      <p:sp>
        <p:nvSpPr>
          <p:cNvPr id="3" name="Inhaltsplatzhalter 2">
            <a:extLst>
              <a:ext uri="{FF2B5EF4-FFF2-40B4-BE49-F238E27FC236}">
                <a16:creationId xmlns:a16="http://schemas.microsoft.com/office/drawing/2014/main" id="{F8D794F0-51CA-4F66-A67D-E4353E79C2A7}"/>
              </a:ext>
            </a:extLst>
          </p:cNvPr>
          <p:cNvSpPr>
            <a:spLocks noGrp="1"/>
          </p:cNvSpPr>
          <p:nvPr>
            <p:ph idx="1"/>
          </p:nvPr>
        </p:nvSpPr>
        <p:spPr>
          <a:xfrm>
            <a:off x="676656" y="2057979"/>
            <a:ext cx="10753725" cy="3766185"/>
          </a:xfrm>
        </p:spPr>
        <p:txBody>
          <a:bodyPr/>
          <a:lstStyle/>
          <a:p>
            <a:endParaRPr lang="de-DE"/>
          </a:p>
        </p:txBody>
      </p:sp>
    </p:spTree>
    <p:extLst>
      <p:ext uri="{BB962C8B-B14F-4D97-AF65-F5344CB8AC3E}">
        <p14:creationId xmlns:p14="http://schemas.microsoft.com/office/powerpoint/2010/main" val="8853073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527AE5-27A9-445B-BD64-38DE7F107B85}"/>
              </a:ext>
            </a:extLst>
          </p:cNvPr>
          <p:cNvSpPr>
            <a:spLocks noGrp="1"/>
          </p:cNvSpPr>
          <p:nvPr>
            <p:ph type="title"/>
          </p:nvPr>
        </p:nvSpPr>
        <p:spPr/>
        <p:txBody>
          <a:bodyPr/>
          <a:lstStyle/>
          <a:p>
            <a:r>
              <a:rPr lang="de-DE" b="1" dirty="0" err="1"/>
              <a:t>If</a:t>
            </a:r>
            <a:r>
              <a:rPr lang="de-DE" b="1" dirty="0"/>
              <a:t>-Else Bedingungen</a:t>
            </a:r>
          </a:p>
        </p:txBody>
      </p:sp>
      <p:sp>
        <p:nvSpPr>
          <p:cNvPr id="3" name="Inhaltsplatzhalter 2">
            <a:extLst>
              <a:ext uri="{FF2B5EF4-FFF2-40B4-BE49-F238E27FC236}">
                <a16:creationId xmlns:a16="http://schemas.microsoft.com/office/drawing/2014/main" id="{1A221475-45E4-4BA8-8463-28D33DCFA6A3}"/>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5482045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8A32F-A1FB-490A-82F1-27B7B4336244}"/>
              </a:ext>
            </a:extLst>
          </p:cNvPr>
          <p:cNvSpPr>
            <a:spLocks noGrp="1"/>
          </p:cNvSpPr>
          <p:nvPr>
            <p:ph type="title"/>
          </p:nvPr>
        </p:nvSpPr>
        <p:spPr/>
        <p:txBody>
          <a:bodyPr/>
          <a:lstStyle/>
          <a:p>
            <a:r>
              <a:rPr lang="de-DE" b="1" dirty="0"/>
              <a:t>Schleifen</a:t>
            </a:r>
          </a:p>
        </p:txBody>
      </p:sp>
      <p:sp>
        <p:nvSpPr>
          <p:cNvPr id="3" name="Inhaltsplatzhalter 2">
            <a:extLst>
              <a:ext uri="{FF2B5EF4-FFF2-40B4-BE49-F238E27FC236}">
                <a16:creationId xmlns:a16="http://schemas.microsoft.com/office/drawing/2014/main" id="{31D7419C-78E8-4760-B7CA-4F89D304FC11}"/>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3536076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0BB82A-4A36-4F92-B3E6-CAC5D2A9A249}"/>
              </a:ext>
            </a:extLst>
          </p:cNvPr>
          <p:cNvSpPr>
            <a:spLocks noGrp="1"/>
          </p:cNvSpPr>
          <p:nvPr>
            <p:ph type="title"/>
          </p:nvPr>
        </p:nvSpPr>
        <p:spPr>
          <a:xfrm>
            <a:off x="540266" y="297514"/>
            <a:ext cx="10772775" cy="840169"/>
          </a:xfrm>
        </p:spPr>
        <p:txBody>
          <a:bodyPr/>
          <a:lstStyle/>
          <a:p>
            <a:r>
              <a:rPr lang="de-DE" dirty="0"/>
              <a:t>Übung Fibonacci Folge</a:t>
            </a:r>
          </a:p>
        </p:txBody>
      </p:sp>
      <p:sp>
        <p:nvSpPr>
          <p:cNvPr id="3" name="Inhaltsplatzhalter 2">
            <a:extLst>
              <a:ext uri="{FF2B5EF4-FFF2-40B4-BE49-F238E27FC236}">
                <a16:creationId xmlns:a16="http://schemas.microsoft.com/office/drawing/2014/main" id="{3FB7BE5A-ECE7-4725-87E2-9FA5BBB1BC69}"/>
              </a:ext>
            </a:extLst>
          </p:cNvPr>
          <p:cNvSpPr>
            <a:spLocks noGrp="1"/>
          </p:cNvSpPr>
          <p:nvPr>
            <p:ph idx="1"/>
          </p:nvPr>
        </p:nvSpPr>
        <p:spPr>
          <a:xfrm>
            <a:off x="676656" y="1190848"/>
            <a:ext cx="10753725" cy="5241850"/>
          </a:xfrm>
        </p:spPr>
        <p:txBody>
          <a:bodyPr>
            <a:normAutofit/>
          </a:bodyPr>
          <a:lstStyle/>
          <a:p>
            <a:pPr marL="457200" indent="-457200">
              <a:lnSpc>
                <a:spcPct val="100000"/>
              </a:lnSpc>
              <a:buFont typeface="+mj-lt"/>
              <a:buAutoNum type="arabicPeriod"/>
            </a:pPr>
            <a:r>
              <a:rPr lang="de-DE" sz="2800" dirty="0"/>
              <a:t>Schreiben Sie eine </a:t>
            </a:r>
            <a:r>
              <a:rPr lang="de-DE" sz="2800" dirty="0" err="1"/>
              <a:t>while</a:t>
            </a:r>
            <a:r>
              <a:rPr lang="de-DE" sz="2800" dirty="0"/>
              <a:t>-Schleife die die Fibonacci Folge berechnet bis die neue Zahl größer ist als 100</a:t>
            </a:r>
          </a:p>
          <a:p>
            <a:pPr marL="457200" indent="-457200">
              <a:lnSpc>
                <a:spcPct val="150000"/>
              </a:lnSpc>
              <a:buFont typeface="+mj-lt"/>
              <a:buAutoNum type="arabicPeriod"/>
            </a:pPr>
            <a:r>
              <a:rPr lang="de-DE" sz="2800" dirty="0"/>
              <a:t>Wie groß ist die neue Zahl?</a:t>
            </a:r>
          </a:p>
          <a:p>
            <a:pPr marL="457200" indent="-457200">
              <a:lnSpc>
                <a:spcPct val="110000"/>
              </a:lnSpc>
              <a:buFont typeface="+mj-lt"/>
              <a:buAutoNum type="arabicPeriod"/>
            </a:pPr>
            <a:r>
              <a:rPr lang="de-DE" sz="2800" dirty="0"/>
              <a:t>Wie viele Iterationen braucht die Folge bis die neue Zahl größer ist als 100?</a:t>
            </a:r>
          </a:p>
          <a:p>
            <a:pPr marL="457200" indent="-457200">
              <a:lnSpc>
                <a:spcPct val="110000"/>
              </a:lnSpc>
              <a:buFont typeface="+mj-lt"/>
              <a:buAutoNum type="arabicPeriod"/>
            </a:pPr>
            <a:r>
              <a:rPr lang="de-DE" sz="2800" dirty="0"/>
              <a:t>Schreiben Sie die Fibonacci Folge nun als </a:t>
            </a:r>
            <a:r>
              <a:rPr lang="de-DE" sz="2800" dirty="0" err="1"/>
              <a:t>for</a:t>
            </a:r>
            <a:r>
              <a:rPr lang="de-DE" sz="2800" dirty="0"/>
              <a:t>-Schleife die 100 mal über die Folge iteriert</a:t>
            </a:r>
          </a:p>
          <a:p>
            <a:pPr marL="457200" indent="-457200">
              <a:lnSpc>
                <a:spcPct val="150000"/>
              </a:lnSpc>
              <a:buFont typeface="+mj-lt"/>
              <a:buAutoNum type="arabicPeriod"/>
            </a:pPr>
            <a:r>
              <a:rPr lang="de-DE" sz="2800" dirty="0"/>
              <a:t>Wie groß ist die neue Zahl nach 100 Iterationen</a:t>
            </a:r>
          </a:p>
        </p:txBody>
      </p:sp>
    </p:spTree>
    <p:extLst>
      <p:ext uri="{BB962C8B-B14F-4D97-AF65-F5344CB8AC3E}">
        <p14:creationId xmlns:p14="http://schemas.microsoft.com/office/powerpoint/2010/main" val="35301253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237B4F-0744-4883-AAB0-293CC3A7ED88}"/>
              </a:ext>
            </a:extLst>
          </p:cNvPr>
          <p:cNvSpPr>
            <a:spLocks noGrp="1"/>
          </p:cNvSpPr>
          <p:nvPr>
            <p:ph type="title"/>
          </p:nvPr>
        </p:nvSpPr>
        <p:spPr>
          <a:xfrm>
            <a:off x="657224" y="499533"/>
            <a:ext cx="10772775" cy="861434"/>
          </a:xfrm>
        </p:spPr>
        <p:txBody>
          <a:bodyPr/>
          <a:lstStyle/>
          <a:p>
            <a:r>
              <a:rPr lang="de-DE" dirty="0"/>
              <a:t>Übung Schleife mit </a:t>
            </a:r>
            <a:r>
              <a:rPr lang="de-DE" dirty="0" err="1"/>
              <a:t>if-else</a:t>
            </a:r>
            <a:endParaRPr lang="de-DE" dirty="0"/>
          </a:p>
        </p:txBody>
      </p:sp>
      <p:sp>
        <p:nvSpPr>
          <p:cNvPr id="3" name="Inhaltsplatzhalter 2">
            <a:extLst>
              <a:ext uri="{FF2B5EF4-FFF2-40B4-BE49-F238E27FC236}">
                <a16:creationId xmlns:a16="http://schemas.microsoft.com/office/drawing/2014/main" id="{EBC88ED8-5F13-4AFE-AD62-F1AE70FA6DE0}"/>
              </a:ext>
            </a:extLst>
          </p:cNvPr>
          <p:cNvSpPr>
            <a:spLocks noGrp="1"/>
          </p:cNvSpPr>
          <p:nvPr>
            <p:ph idx="1"/>
          </p:nvPr>
        </p:nvSpPr>
        <p:spPr>
          <a:xfrm>
            <a:off x="676656" y="1440712"/>
            <a:ext cx="10997893" cy="5002618"/>
          </a:xfrm>
        </p:spPr>
        <p:txBody>
          <a:bodyPr>
            <a:normAutofit fontScale="92500" lnSpcReduction="20000"/>
          </a:bodyPr>
          <a:lstStyle/>
          <a:p>
            <a:pPr marL="457200" indent="-457200">
              <a:lnSpc>
                <a:spcPct val="150000"/>
              </a:lnSpc>
              <a:buFont typeface="+mj-lt"/>
              <a:buAutoNum type="arabicPeriod"/>
            </a:pPr>
            <a:r>
              <a:rPr lang="de-DE" sz="2800" dirty="0"/>
              <a:t>Berechnen Sie die ersten 100 Stellen einer Folge mit den folgenden Eigenschaften:</a:t>
            </a:r>
          </a:p>
          <a:p>
            <a:pPr marL="713232" lvl="1" indent="-457200">
              <a:lnSpc>
                <a:spcPct val="150000"/>
              </a:lnSpc>
              <a:buFont typeface="Arial" panose="020B0604020202020204" pitchFamily="34" charset="0"/>
              <a:buChar char="•"/>
            </a:pPr>
            <a:r>
              <a:rPr lang="de-DE" sz="2800" dirty="0"/>
              <a:t>Sie startet mit dem Wert 3</a:t>
            </a:r>
          </a:p>
          <a:p>
            <a:pPr marL="713232" lvl="1" indent="-457200">
              <a:lnSpc>
                <a:spcPct val="120000"/>
              </a:lnSpc>
              <a:buFont typeface="Arial" panose="020B0604020202020204" pitchFamily="34" charset="0"/>
              <a:buChar char="•"/>
            </a:pPr>
            <a:r>
              <a:rPr lang="de-DE" sz="2800" dirty="0"/>
              <a:t>Bei der Berechnung der nächsten Zahl soll geprüft werden ob die vorherige Zahl teilbar durch 3 ist. </a:t>
            </a:r>
          </a:p>
          <a:p>
            <a:pPr marL="256032" lvl="1" indent="0">
              <a:lnSpc>
                <a:spcPct val="120000"/>
              </a:lnSpc>
              <a:buNone/>
            </a:pPr>
            <a:r>
              <a:rPr lang="de-DE" sz="2800" dirty="0"/>
              <a:t>	-&gt; Wenn ja, dann soll der nächste Wert berechnet werden aus dem 			vorherigen Wert + 7</a:t>
            </a:r>
          </a:p>
          <a:p>
            <a:pPr marL="256032" lvl="1" indent="0">
              <a:lnSpc>
                <a:spcPct val="120000"/>
              </a:lnSpc>
              <a:buNone/>
            </a:pPr>
            <a:r>
              <a:rPr lang="de-DE" sz="2800" dirty="0"/>
              <a:t>	-&gt; ansonsten soll der nächste Wert berechnet werden aus dem vorherigen 		Wert – 2</a:t>
            </a:r>
          </a:p>
          <a:p>
            <a:pPr marL="256032" lvl="1" indent="0">
              <a:lnSpc>
                <a:spcPct val="150000"/>
              </a:lnSpc>
              <a:buNone/>
            </a:pPr>
            <a:r>
              <a:rPr lang="de-DE" sz="2800" dirty="0"/>
              <a:t>2. Stellen Sie die Folge grafisch dar </a:t>
            </a:r>
          </a:p>
        </p:txBody>
      </p:sp>
    </p:spTree>
    <p:extLst>
      <p:ext uri="{BB962C8B-B14F-4D97-AF65-F5344CB8AC3E}">
        <p14:creationId xmlns:p14="http://schemas.microsoft.com/office/powerpoint/2010/main" val="35293318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8442BA-4AF9-4F3C-A1DE-0472859C5193}"/>
              </a:ext>
            </a:extLst>
          </p:cNvPr>
          <p:cNvSpPr>
            <a:spLocks noGrp="1"/>
          </p:cNvSpPr>
          <p:nvPr>
            <p:ph type="title"/>
          </p:nvPr>
        </p:nvSpPr>
        <p:spPr>
          <a:xfrm>
            <a:off x="638174" y="340045"/>
            <a:ext cx="10772775" cy="654100"/>
          </a:xfrm>
        </p:spPr>
        <p:txBody>
          <a:bodyPr>
            <a:normAutofit fontScale="90000"/>
          </a:bodyPr>
          <a:lstStyle/>
          <a:p>
            <a:r>
              <a:rPr lang="de-DE" dirty="0"/>
              <a:t>Übung </a:t>
            </a:r>
            <a:r>
              <a:rPr lang="de-DE" dirty="0" err="1"/>
              <a:t>Babynames</a:t>
            </a:r>
            <a:endParaRPr lang="de-DE" dirty="0"/>
          </a:p>
        </p:txBody>
      </p:sp>
      <p:sp>
        <p:nvSpPr>
          <p:cNvPr id="3" name="Inhaltsplatzhalter 2">
            <a:extLst>
              <a:ext uri="{FF2B5EF4-FFF2-40B4-BE49-F238E27FC236}">
                <a16:creationId xmlns:a16="http://schemas.microsoft.com/office/drawing/2014/main" id="{B134B269-5E99-40A2-8851-AA5EE490B9DC}"/>
              </a:ext>
            </a:extLst>
          </p:cNvPr>
          <p:cNvSpPr>
            <a:spLocks noGrp="1"/>
          </p:cNvSpPr>
          <p:nvPr>
            <p:ph idx="1"/>
          </p:nvPr>
        </p:nvSpPr>
        <p:spPr>
          <a:xfrm>
            <a:off x="676656" y="1313121"/>
            <a:ext cx="10753725" cy="4768701"/>
          </a:xfrm>
        </p:spPr>
        <p:txBody>
          <a:bodyPr>
            <a:normAutofit fontScale="92500" lnSpcReduction="20000"/>
          </a:bodyPr>
          <a:lstStyle/>
          <a:p>
            <a:pPr marL="457200" indent="-457200">
              <a:lnSpc>
                <a:spcPct val="150000"/>
              </a:lnSpc>
              <a:buFont typeface="+mj-lt"/>
              <a:buAutoNum type="arabicPeriod"/>
            </a:pPr>
            <a:r>
              <a:rPr lang="de-DE" sz="2800" dirty="0"/>
              <a:t>Lesen Sie den Datensatz </a:t>
            </a:r>
            <a:r>
              <a:rPr lang="de-DE" sz="2800" dirty="0" err="1"/>
              <a:t>babyNamesUS</a:t>
            </a:r>
            <a:r>
              <a:rPr lang="de-DE" sz="2800" dirty="0"/>
              <a:t> ein</a:t>
            </a:r>
          </a:p>
          <a:p>
            <a:pPr marL="457200" indent="-457200">
              <a:lnSpc>
                <a:spcPct val="150000"/>
              </a:lnSpc>
              <a:buFont typeface="+mj-lt"/>
              <a:buAutoNum type="arabicPeriod"/>
            </a:pPr>
            <a:r>
              <a:rPr lang="de-DE" sz="2800" dirty="0"/>
              <a:t>Erstellen Sie einen Vektor mit eindeutigen Jahreszahlen im Datensatz</a:t>
            </a:r>
          </a:p>
          <a:p>
            <a:pPr marL="457200" indent="-457200">
              <a:lnSpc>
                <a:spcPct val="110000"/>
              </a:lnSpc>
              <a:buFont typeface="+mj-lt"/>
              <a:buAutoNum type="arabicPeriod"/>
            </a:pPr>
            <a:r>
              <a:rPr lang="de-DE" sz="2800" dirty="0"/>
              <a:t>Extrahieren Sie mittels Schleife den populärsten Namen und die Anzahl der Geburten pro Jahr. Erstellen Sie dafür vor der Schleife entsprechende leere Vektoren und nutzen Sie den Vektor mit den Jahreszahlen.</a:t>
            </a:r>
          </a:p>
          <a:p>
            <a:pPr marL="457200" indent="-457200">
              <a:lnSpc>
                <a:spcPct val="120000"/>
              </a:lnSpc>
              <a:buFont typeface="+mj-lt"/>
              <a:buAutoNum type="arabicPeriod"/>
            </a:pPr>
            <a:r>
              <a:rPr lang="de-DE" sz="2800" dirty="0"/>
              <a:t>Stellen Sie grafisch dar wie häufig die populärsten Namen über die Jahre vorkamen</a:t>
            </a:r>
          </a:p>
          <a:p>
            <a:pPr marL="457200" indent="-457200">
              <a:lnSpc>
                <a:spcPct val="120000"/>
              </a:lnSpc>
              <a:buFont typeface="+mj-lt"/>
              <a:buAutoNum type="arabicPeriod"/>
            </a:pPr>
            <a:r>
              <a:rPr lang="de-DE" sz="2800" dirty="0"/>
              <a:t>Erstellen Sie einen Plot mit der Entwicklung der Geburtenzahlen im Laufe der Jahre</a:t>
            </a:r>
          </a:p>
        </p:txBody>
      </p:sp>
    </p:spTree>
    <p:extLst>
      <p:ext uri="{BB962C8B-B14F-4D97-AF65-F5344CB8AC3E}">
        <p14:creationId xmlns:p14="http://schemas.microsoft.com/office/powerpoint/2010/main" val="11509708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A9975D-C771-44C5-890D-DCEF15A5F7BF}"/>
              </a:ext>
            </a:extLst>
          </p:cNvPr>
          <p:cNvSpPr>
            <a:spLocks noGrp="1"/>
          </p:cNvSpPr>
          <p:nvPr>
            <p:ph type="title"/>
          </p:nvPr>
        </p:nvSpPr>
        <p:spPr>
          <a:xfrm>
            <a:off x="607163" y="175240"/>
            <a:ext cx="10772775" cy="856118"/>
          </a:xfrm>
        </p:spPr>
        <p:txBody>
          <a:bodyPr/>
          <a:lstStyle/>
          <a:p>
            <a:r>
              <a:rPr lang="de-DE" dirty="0"/>
              <a:t>Übung Bundeswaldinventur</a:t>
            </a:r>
          </a:p>
        </p:txBody>
      </p:sp>
      <p:sp>
        <p:nvSpPr>
          <p:cNvPr id="3" name="Inhaltsplatzhalter 2">
            <a:extLst>
              <a:ext uri="{FF2B5EF4-FFF2-40B4-BE49-F238E27FC236}">
                <a16:creationId xmlns:a16="http://schemas.microsoft.com/office/drawing/2014/main" id="{D1D56579-4B14-42EB-9B41-92B1BA890137}"/>
              </a:ext>
            </a:extLst>
          </p:cNvPr>
          <p:cNvSpPr>
            <a:spLocks noGrp="1"/>
          </p:cNvSpPr>
          <p:nvPr>
            <p:ph idx="1"/>
          </p:nvPr>
        </p:nvSpPr>
        <p:spPr>
          <a:xfrm>
            <a:off x="676656" y="956931"/>
            <a:ext cx="10753725" cy="5603358"/>
          </a:xfrm>
        </p:spPr>
        <p:txBody>
          <a:bodyPr>
            <a:normAutofit fontScale="85000" lnSpcReduction="20000"/>
          </a:bodyPr>
          <a:lstStyle/>
          <a:p>
            <a:pPr marL="514350" indent="-514350">
              <a:lnSpc>
                <a:spcPct val="160000"/>
              </a:lnSpc>
              <a:buFont typeface="+mj-lt"/>
              <a:buAutoNum type="arabicPeriod"/>
            </a:pPr>
            <a:r>
              <a:rPr lang="de-DE" sz="2800" dirty="0"/>
              <a:t>Lesen Sie den Datensatz Bundeswaldinventur_2012.csv ein</a:t>
            </a:r>
          </a:p>
          <a:p>
            <a:pPr marL="514350" indent="-514350">
              <a:lnSpc>
                <a:spcPct val="120000"/>
              </a:lnSpc>
              <a:buFont typeface="+mj-lt"/>
              <a:buAutoNum type="arabicPeriod"/>
            </a:pPr>
            <a:r>
              <a:rPr lang="de-DE" sz="2800" dirty="0"/>
              <a:t>Schreiben Sie eine Funktion, die die Summe des Holzvolumens eines Bundeslandes ausgibt. Das Bundesland soll über das Funktionsargument wählbar sein</a:t>
            </a:r>
          </a:p>
          <a:p>
            <a:pPr marL="514350" indent="-514350">
              <a:lnSpc>
                <a:spcPct val="120000"/>
              </a:lnSpc>
              <a:buFont typeface="+mj-lt"/>
              <a:buAutoNum type="arabicPeriod"/>
            </a:pPr>
            <a:r>
              <a:rPr lang="de-DE" sz="2800" dirty="0"/>
              <a:t>Erweitern Sie die Funktion so, dass auch ein Histogramm mit der Verteilung des Holzvolumens pro Einzelbaum für das Bundesland erstellt wird. Der Titel sollte Auskunft geben welches Bundesland dargestellt ist.</a:t>
            </a:r>
          </a:p>
          <a:p>
            <a:pPr marL="514350" indent="-514350">
              <a:lnSpc>
                <a:spcPct val="120000"/>
              </a:lnSpc>
              <a:buFont typeface="+mj-lt"/>
              <a:buAutoNum type="arabicPeriod"/>
            </a:pPr>
            <a:r>
              <a:rPr lang="de-DE" sz="2800" dirty="0"/>
              <a:t>Führen Sie ein zweites Argument ein welches steuert ob das Histogramm beim Funktionsaufruf erstellt wird oder nicht</a:t>
            </a:r>
          </a:p>
          <a:p>
            <a:pPr marL="514350" indent="-514350">
              <a:lnSpc>
                <a:spcPct val="120000"/>
              </a:lnSpc>
              <a:buFont typeface="+mj-lt"/>
              <a:buAutoNum type="arabicPeriod"/>
            </a:pPr>
            <a:r>
              <a:rPr lang="de-DE" sz="2800" dirty="0"/>
              <a:t>Rufen Sie die Funktion in einer Schleife für jedes Bundesland auf und speichern Sie das Ergebnis in einem entsprechenden Vektor</a:t>
            </a:r>
          </a:p>
          <a:p>
            <a:pPr marL="514350" indent="-514350">
              <a:lnSpc>
                <a:spcPct val="160000"/>
              </a:lnSpc>
              <a:buFont typeface="+mj-lt"/>
              <a:buAutoNum type="arabicPeriod"/>
            </a:pPr>
            <a:r>
              <a:rPr lang="de-DE" sz="2800" dirty="0"/>
              <a:t>Stellen Sie das Ergebnis auf geeignete Weise dar</a:t>
            </a:r>
          </a:p>
        </p:txBody>
      </p:sp>
    </p:spTree>
    <p:extLst>
      <p:ext uri="{BB962C8B-B14F-4D97-AF65-F5344CB8AC3E}">
        <p14:creationId xmlns:p14="http://schemas.microsoft.com/office/powerpoint/2010/main" val="1369864366"/>
      </p:ext>
    </p:extLst>
  </p:cSld>
  <p:clrMapOvr>
    <a:masterClrMapping/>
  </p:clrMapOvr>
</p:sld>
</file>

<file path=ppt/theme/theme1.xml><?xml version="1.0" encoding="utf-8"?>
<a:theme xmlns:a="http://schemas.openxmlformats.org/drawingml/2006/main" name="Metropolitan">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docProps/app.xml><?xml version="1.0" encoding="utf-8"?>
<Properties xmlns="http://schemas.openxmlformats.org/officeDocument/2006/extended-properties" xmlns:vt="http://schemas.openxmlformats.org/officeDocument/2006/docPropsVTypes">
  <Template>TM03457491[[fn=Metropolitan]]</Template>
  <TotalTime>0</TotalTime>
  <Words>1100</Words>
  <Application>Microsoft Office PowerPoint</Application>
  <PresentationFormat>Breitbild</PresentationFormat>
  <Paragraphs>175</Paragraphs>
  <Slides>49</Slides>
  <Notes>0</Notes>
  <HiddenSlides>7</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49</vt:i4>
      </vt:variant>
    </vt:vector>
  </HeadingPairs>
  <TitlesOfParts>
    <vt:vector size="52" baseType="lpstr">
      <vt:lpstr>Arial</vt:lpstr>
      <vt:lpstr>Calibri Light</vt:lpstr>
      <vt:lpstr>Metropolitan</vt:lpstr>
      <vt:lpstr>Einführung in die Programmiersprache R</vt:lpstr>
      <vt:lpstr>Ziele des Kurses</vt:lpstr>
      <vt:lpstr>Warum R? – 4 Gründe</vt:lpstr>
      <vt:lpstr>Ausblick: ShinyApps</vt:lpstr>
      <vt:lpstr>Inhalte</vt:lpstr>
      <vt:lpstr>Ablauf</vt:lpstr>
      <vt:lpstr>Wie? Warum? Was?</vt:lpstr>
      <vt:lpstr>Installation R und R Studio</vt:lpstr>
      <vt:lpstr>Grundlagen: Operatoren, Datenstrukturen, Funktionen</vt:lpstr>
      <vt:lpstr>Datenstrukturen in R</vt:lpstr>
      <vt:lpstr>Live Coding: Operatoren und Variablen</vt:lpstr>
      <vt:lpstr>Operatoren</vt:lpstr>
      <vt:lpstr>Werte</vt:lpstr>
      <vt:lpstr>Variablen</vt:lpstr>
      <vt:lpstr>Übung: Operatoren und Variablen</vt:lpstr>
      <vt:lpstr>Datenstrukturen in R: Vektoren</vt:lpstr>
      <vt:lpstr>Live Coding: Vektoren</vt:lpstr>
      <vt:lpstr>Vektoren</vt:lpstr>
      <vt:lpstr>Übung: Vektoren</vt:lpstr>
      <vt:lpstr>Live Coding: Funktionen</vt:lpstr>
      <vt:lpstr>Funktionen</vt:lpstr>
      <vt:lpstr>Übung: Funktionen</vt:lpstr>
      <vt:lpstr>Datenstrukturen in R: Matrizen</vt:lpstr>
      <vt:lpstr>Live Coding: Matrizen</vt:lpstr>
      <vt:lpstr>Matrizen</vt:lpstr>
      <vt:lpstr>Übung: Matrizen</vt:lpstr>
      <vt:lpstr>Datenstrukturen in R: Dataframes</vt:lpstr>
      <vt:lpstr>Live Coding: Dataframes</vt:lpstr>
      <vt:lpstr>Dataframes</vt:lpstr>
      <vt:lpstr>Übung: Dataframes</vt:lpstr>
      <vt:lpstr>Grafiken  Histogramm, Dichtediagramm, Boxplot, Balkendiagramm und Scatterplot</vt:lpstr>
      <vt:lpstr> Histogramm</vt:lpstr>
      <vt:lpstr>Übung Histogramm</vt:lpstr>
      <vt:lpstr>Dichtediagramm</vt:lpstr>
      <vt:lpstr>Übung Dichtediagramm</vt:lpstr>
      <vt:lpstr>Boxplot</vt:lpstr>
      <vt:lpstr>Übung Boxplot</vt:lpstr>
      <vt:lpstr>Balkendiagramm</vt:lpstr>
      <vt:lpstr>Übung Balkendiagramm</vt:lpstr>
      <vt:lpstr>Scatterplot</vt:lpstr>
      <vt:lpstr>Übung Scatterplot</vt:lpstr>
      <vt:lpstr>Automatisierungen  Eigene Funktionen, If-Else Bedingungen und Schleifen</vt:lpstr>
      <vt:lpstr>Eigene Funktionen</vt:lpstr>
      <vt:lpstr>If-Else Bedingungen</vt:lpstr>
      <vt:lpstr>Schleifen</vt:lpstr>
      <vt:lpstr>Übung Fibonacci Folge</vt:lpstr>
      <vt:lpstr>Übung Schleife mit if-else</vt:lpstr>
      <vt:lpstr>Übung Babynames</vt:lpstr>
      <vt:lpstr>Übung Bundeswaldinventur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Einführung in R</dc:title>
  <dc:creator>Florian</dc:creator>
  <cp:lastModifiedBy>Florian Keppeler</cp:lastModifiedBy>
  <cp:revision>99</cp:revision>
  <dcterms:created xsi:type="dcterms:W3CDTF">2024-08-16T08:03:14Z</dcterms:created>
  <dcterms:modified xsi:type="dcterms:W3CDTF">2025-07-01T18:33:10Z</dcterms:modified>
</cp:coreProperties>
</file>